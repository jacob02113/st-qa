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3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4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780263270824bc1" /><Relationship Type="http://schemas.openxmlformats.org/officeDocument/2006/relationships/extended-properties" Target="/docProps/app.xml" Id="R2d78d399b3c342db" /><Relationship Type="http://schemas.openxmlformats.org/officeDocument/2006/relationships/officeDocument" Target="/ppt/presentation.xml" Id="R521827a48d3845a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297d56c028a4dfd"/>
  </p:sldMasterIdLst>
  <p:notesMasterIdLst>
    <p:notesMasterId xmlns:r="http://schemas.openxmlformats.org/officeDocument/2006/relationships" r:id="R51f0398c684a40a0"/>
  </p:notesMasterIdLst>
  <p:sldIdLst>
    <p:sldId xmlns:r="http://schemas.openxmlformats.org/officeDocument/2006/relationships" id="256" r:id="R873a793b76d849f9"/>
    <p:sldId xmlns:r="http://schemas.openxmlformats.org/officeDocument/2006/relationships" id="257" r:id="R92c7482999a541af"/>
    <p:sldId xmlns:r="http://schemas.openxmlformats.org/officeDocument/2006/relationships" id="258" r:id="R45f1d4b9dc2044fa"/>
    <p:sldId xmlns:r="http://schemas.openxmlformats.org/officeDocument/2006/relationships" id="259" r:id="R883bfa94e628440b"/>
    <p:sldId xmlns:r="http://schemas.openxmlformats.org/officeDocument/2006/relationships" id="260" r:id="Rc25eea82e21b495a"/>
    <p:sldId xmlns:r="http://schemas.openxmlformats.org/officeDocument/2006/relationships" id="261" r:id="R9cc40317e54d4e84"/>
    <p:sldId xmlns:r="http://schemas.openxmlformats.org/officeDocument/2006/relationships" id="262" r:id="Rf27042b36aef4f72"/>
    <p:sldId xmlns:r="http://schemas.openxmlformats.org/officeDocument/2006/relationships" id="263" r:id="R9ed6921a57cc4e1a"/>
    <p:sldId xmlns:r="http://schemas.openxmlformats.org/officeDocument/2006/relationships" id="264" r:id="R7b1c312d7ba2476a"/>
    <p:sldId xmlns:r="http://schemas.openxmlformats.org/officeDocument/2006/relationships" id="265" r:id="R9f03d1220a9b4dc7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015d98c5cfa47da" /><Relationship Type="http://schemas.openxmlformats.org/officeDocument/2006/relationships/slideMaster" Target="/ppt/slideMasters/slideMaster1.xml" Id="R5297d56c028a4dfd" /><Relationship Type="http://schemas.openxmlformats.org/officeDocument/2006/relationships/notesMaster" Target="/ppt/notesMasters/notesMaster1.xml" Id="R51f0398c684a40a0" /><Relationship Type="http://schemas.openxmlformats.org/officeDocument/2006/relationships/presProps" Target="/ppt/presProps.xml" Id="R4f002748aef94d8b" /><Relationship Type="http://schemas.openxmlformats.org/officeDocument/2006/relationships/viewProps" Target="/ppt/viewProps.xml" Id="R4a921ba428dd4606" /><Relationship Type="http://schemas.openxmlformats.org/officeDocument/2006/relationships/tableStyles" Target="/ppt/tableStyles.xml" Id="Rbaeed8a351294d15" /><Relationship Type="http://schemas.openxmlformats.org/officeDocument/2006/relationships/slide" Target="/ppt/slides/slide1.xml" Id="R873a793b76d849f9" /><Relationship Type="http://schemas.openxmlformats.org/officeDocument/2006/relationships/slide" Target="/ppt/slides/slide2.xml" Id="R92c7482999a541af" /><Relationship Type="http://schemas.openxmlformats.org/officeDocument/2006/relationships/slide" Target="/ppt/slides/slide3.xml" Id="R45f1d4b9dc2044fa" /><Relationship Type="http://schemas.openxmlformats.org/officeDocument/2006/relationships/slide" Target="/ppt/slides/slide4.xml" Id="R883bfa94e628440b" /><Relationship Type="http://schemas.openxmlformats.org/officeDocument/2006/relationships/slide" Target="/ppt/slides/slide5.xml" Id="Rc25eea82e21b495a" /><Relationship Type="http://schemas.openxmlformats.org/officeDocument/2006/relationships/slide" Target="/ppt/slides/slide6.xml" Id="R9cc40317e54d4e84" /><Relationship Type="http://schemas.openxmlformats.org/officeDocument/2006/relationships/slide" Target="/ppt/slides/slide7.xml" Id="Rf27042b36aef4f72" /><Relationship Type="http://schemas.openxmlformats.org/officeDocument/2006/relationships/slide" Target="/ppt/slides/slide8.xml" Id="R9ed6921a57cc4e1a" /><Relationship Type="http://schemas.openxmlformats.org/officeDocument/2006/relationships/slide" Target="/ppt/slides/slide9.xml" Id="R7b1c312d7ba2476a" /><Relationship Type="http://schemas.openxmlformats.org/officeDocument/2006/relationships/slide" Target="/ppt/slides/slide10.xml" Id="R9f03d1220a9b4dc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0b8ddcdcaea4e8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c8b9331789d4907" /><Relationship Type="http://schemas.openxmlformats.org/officeDocument/2006/relationships/notesMaster" Target="/ppt/notesMasters/notesMaster1.xml" Id="R3867fb2e122149d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51c70c1995746bb" /><Relationship Type="http://schemas.openxmlformats.org/officeDocument/2006/relationships/notesMaster" Target="/ppt/notesMasters/notesMaster1.xml" Id="R155c51b4fba5417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7fb66a25093406b" /><Relationship Type="http://schemas.openxmlformats.org/officeDocument/2006/relationships/notesMaster" Target="/ppt/notesMasters/notesMaster1.xml" Id="R8f7cfdbfd2dc44c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89ed66f9e364d9d" /><Relationship Type="http://schemas.openxmlformats.org/officeDocument/2006/relationships/notesMaster" Target="/ppt/notesMasters/notesMaster1.xml" Id="R8b602df6f12a494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0588c271a8446c0" /><Relationship Type="http://schemas.openxmlformats.org/officeDocument/2006/relationships/notesMaster" Target="/ppt/notesMasters/notesMaster1.xml" Id="Ree5c7115877c4c9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c8c91f9ed844a9c" /><Relationship Type="http://schemas.openxmlformats.org/officeDocument/2006/relationships/notesMaster" Target="/ppt/notesMasters/notesMaster1.xml" Id="R2e0c7c33a76c47d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77d4ba619a540d4" /><Relationship Type="http://schemas.openxmlformats.org/officeDocument/2006/relationships/notesMaster" Target="/ppt/notesMasters/notesMaster1.xml" Id="R4d08e72258ef44f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058603f58244ac6" /><Relationship Type="http://schemas.openxmlformats.org/officeDocument/2006/relationships/notesMaster" Target="/ppt/notesMasters/notesMaster1.xml" Id="R51b2a21138a6436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3d6f0130a06493b" /><Relationship Type="http://schemas.openxmlformats.org/officeDocument/2006/relationships/notesMaster" Target="/ppt/notesMasters/notesMaster1.xml" Id="Rbdea89b202564b6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f42e2b74953482c" /><Relationship Type="http://schemas.openxmlformats.org/officeDocument/2006/relationships/notesMaster" Target="/ppt/notesMasters/notesMaster1.xml" Id="Re0e2b764ea5348f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2044a704a5425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6076e3bb30487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d0295238c84c4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a356228c394ed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ba1f241b45467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f8f0a9120f49c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5a0a9b7a0e423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3a4549d5ec4e5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04d92deea547d6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8941cf428e47b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ee05e48717488c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05CEA71-12D6-4A5B-95D0-92E8BF8C2D2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2048133-103C-44C9-86EE-2F4FC3ACC30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7332B25-2991-4561-84B5-02DFF5D4B8F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CBBD168-E05B-4190-A36B-50C3A4D143E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DB264EC-5CD3-40B9-ADA7-8532FE80CBC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058BB3D-DCFB-4263-85C2-2A0D42D8BB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02D684B-D8B0-4456-9B56-E20D7565AAD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6FA9621-CC8F-4FD1-A8BB-79F85321E6C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591AA43-4F0D-483C-B9DC-00623A4CB75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51C82D8-2EC0-4D61-809B-B9B56B670A8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19CA10D-6B69-4BD6-B8F4-ACCA34942A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8896B03-9F5B-47F5-BB87-7270EEDD98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C3D5222-1CFA-4B42-ABB9-D2E9D1AB4AD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310B579-CAC2-41D0-BC77-F300A4983A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1B61820-662F-47B6-A11A-9D9C5480CB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A2EC008-4598-408A-A2EA-6052EBAE99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DDB2443-E71E-48D5-9922-997A45C8203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965530A-2C94-4025-B4E5-A4BD705E81C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666A390-C482-49BD-A2D8-7B0D2FF663C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A261AD3-FF2E-464B-B3CB-5B4BE0AC2CD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3AD48E6-8045-46D4-B998-673C91C8F22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1EB0A77-32BD-400D-8342-B47F8C1D3B8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831E7A9-6A87-4C20-879E-01CBDE42A48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AB7ADE3-BA29-4F84-ABDB-1591688C554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DAAB0ED2-A2C2-4E82-AE3B-263F5D70F26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37CE5B66-1ABE-431D-A1B4-072ACE7239EA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C531FA9B-C2EE-402E-847F-1711C10797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38C72A99-BF48-4404-B47C-44F252FF0A3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5F05D493-479F-4E44-91C5-899637BD443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13C6B17-03E1-4C56-9476-A256D2A0AD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4AB0B283-2F2E-4AE8-916E-AEA5C527D11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03BB314-723A-443D-98CD-0B153A9B0F4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5C95896C-22C8-4996-91EA-6647E10AB6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F330A8EC-0DD4-4509-AC06-0ABA5F138B9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80E8A83-4804-491C-93EF-44DA1E1E39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20862333-FFE4-4CD6-92FC-940082516A6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F94D42-494F-49F1-9F3E-AEB62F3DBF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4FA7C4D-7582-4DC6-B8D1-10064741656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A646052F-019D-4B5B-9FFB-CDB5B4D7023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5096462-0016-4243-B865-90C2D6CDB3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F23BB71-5DC4-4D36-BD2E-73A697B873D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09DBFFE-8D00-485C-9E8C-B66CD90BB0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B4CE8A6-1EC8-4C26-837C-E072D617E9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1FB342C7-FAA7-426B-AF72-97AA6D77ECD6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0077C31-707B-4B01-B46A-3A2136FE4D5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AED5D07-8780-4F73-8154-57F89AEB8CA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106C0B5-36D5-414D-9E9B-B98C8E8896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15231A2-3F8E-40EB-9770-CFC70A3658F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7D883AA-18B7-46A9-9F69-A8C3550492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21F4060-6136-45E3-ADD5-5CD109A8548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E833983-87CF-4F5D-BAFB-D2E3DC1D62A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3F8990-E016-4875-83F2-08A45976D3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1420874-1FE5-4C1A-A387-5D91033DA75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B2F5CF14-DC0E-43A0-9C08-E3C51EEC83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953F13C-35A8-444D-8B96-594DD988479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882E9B5-AABD-4232-9683-FF9AE5BEC82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7DA5A45-8F82-45C2-8F60-3E020706920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644CA4E-61BB-4770-A1AF-6087412709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8dded56325d94f8f" /><Relationship Type="http://schemas.openxmlformats.org/officeDocument/2006/relationships/theme" Target="/ppt/slideMasters/theme/theme2.xml" Id="Rbcf2e8acba824cf8" /><Relationship Type="http://schemas.openxmlformats.org/officeDocument/2006/relationships/slideLayout" Target="/ppt/slideLayouts/slideLayout1.xml" Id="Raf8c9fe3888f46c8" /><Relationship Type="http://schemas.openxmlformats.org/officeDocument/2006/relationships/slideLayout" Target="/ppt/slideLayouts/slideLayout2.xml" Id="R97b69b80f39444c9" /><Relationship Type="http://schemas.openxmlformats.org/officeDocument/2006/relationships/slideLayout" Target="/ppt/slideLayouts/slideLayout3.xml" Id="Rbe57612a5e5e4fb6" /><Relationship Type="http://schemas.openxmlformats.org/officeDocument/2006/relationships/slideLayout" Target="/ppt/slideLayouts/slideLayout4.xml" Id="R57d71566998e4f4d" /><Relationship Type="http://schemas.openxmlformats.org/officeDocument/2006/relationships/slideLayout" Target="/ppt/slideLayouts/slideLayout5.xml" Id="Ra7cc4ab135c9401a" /><Relationship Type="http://schemas.openxmlformats.org/officeDocument/2006/relationships/slideLayout" Target="/ppt/slideLayouts/slideLayout6.xml" Id="Rd14b79b1568b4e70" /><Relationship Type="http://schemas.openxmlformats.org/officeDocument/2006/relationships/slideLayout" Target="/ppt/slideLayouts/slideLayout7.xml" Id="R5bfdb526fb904ae1" /><Relationship Type="http://schemas.openxmlformats.org/officeDocument/2006/relationships/slideLayout" Target="/ppt/slideLayouts/slideLayout8.xml" Id="R8375dc91475d4d58" /><Relationship Type="http://schemas.openxmlformats.org/officeDocument/2006/relationships/slideLayout" Target="/ppt/slideLayouts/slideLayout9.xml" Id="R9f0115bce5a44571" /><Relationship Type="http://schemas.openxmlformats.org/officeDocument/2006/relationships/slideLayout" Target="/ppt/slideLayouts/slideLayout10.xml" Id="R4267a944c92e4b5b" /><Relationship Type="http://schemas.openxmlformats.org/officeDocument/2006/relationships/slideLayout" Target="/ppt/slideLayouts/slideLayout11.xml" Id="R731c82361e8b45dd" /></Relationships>
</file>

<file path=ppt/slideMasters/slideMaster1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8dded56325d94f8f">
            <a:alphaModFix amt="80000"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608DE3DC-50F6-49A9-AA1D-3A29540487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DCD1C8E-F9D7-423E-95B3-F578D8A830B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D33953F-CA1C-4089-A3FB-B3A8F7B24D9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5C0F0D4-7E6A-4C08-8912-AAFE3104C9D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9EF0444-255E-4535-8C73-0FC3EDF25F4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f8c9fe3888f46c8"/>
    <p:sldLayoutId xmlns:r="http://schemas.openxmlformats.org/officeDocument/2006/relationships" id="2147483650" r:id="R97b69b80f39444c9"/>
    <p:sldLayoutId xmlns:r="http://schemas.openxmlformats.org/officeDocument/2006/relationships" id="2147483651" r:id="Rbe57612a5e5e4fb6"/>
    <p:sldLayoutId xmlns:r="http://schemas.openxmlformats.org/officeDocument/2006/relationships" id="2147483652" r:id="R57d71566998e4f4d"/>
    <p:sldLayoutId xmlns:r="http://schemas.openxmlformats.org/officeDocument/2006/relationships" id="2147483653" r:id="Ra7cc4ab135c9401a"/>
    <p:sldLayoutId xmlns:r="http://schemas.openxmlformats.org/officeDocument/2006/relationships" id="2147483654" r:id="Rd14b79b1568b4e70"/>
    <p:sldLayoutId xmlns:r="http://schemas.openxmlformats.org/officeDocument/2006/relationships" id="2147483655" r:id="R5bfdb526fb904ae1"/>
    <p:sldLayoutId xmlns:r="http://schemas.openxmlformats.org/officeDocument/2006/relationships" id="2147483656" r:id="R8375dc91475d4d58"/>
    <p:sldLayoutId xmlns:r="http://schemas.openxmlformats.org/officeDocument/2006/relationships" id="2147483657" r:id="R9f0115bce5a44571"/>
    <p:sldLayoutId xmlns:r="http://schemas.openxmlformats.org/officeDocument/2006/relationships" id="2147483658" r:id="R4267a944c92e4b5b"/>
    <p:sldLayoutId xmlns:r="http://schemas.openxmlformats.org/officeDocument/2006/relationships" id="2147483659" r:id="R731c82361e8b45dd"/>
  </p:sldLayoutIdLst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79cfa6899534cc4" /><Relationship Type="http://schemas.openxmlformats.org/officeDocument/2006/relationships/image" Target="/ppt/media/image2.png" Id="R6678c40ef96549d1" /><Relationship Type="http://schemas.openxmlformats.org/officeDocument/2006/relationships/image" Target="/ppt/media/image3.png" Id="Rc6b23cc5235747e8" /><Relationship Type="http://schemas.openxmlformats.org/officeDocument/2006/relationships/image" Target="/ppt/media/image.svg" Id="Re55b10fdcdbf4576" /><Relationship Type="http://schemas.openxmlformats.org/officeDocument/2006/relationships/image" Target="/ppt/media/image4.png" Id="R715bd27e898d4c89" /><Relationship Type="http://schemas.openxmlformats.org/officeDocument/2006/relationships/image" Target="/ppt/media/image2.svg" Id="R27d2252323134cd1" /><Relationship Type="http://schemas.openxmlformats.org/officeDocument/2006/relationships/image" Target="/ppt/media/image5.png" Id="Re303623fbc554ce7" /><Relationship Type="http://schemas.openxmlformats.org/officeDocument/2006/relationships/image" Target="/ppt/media/image3.svg" Id="Rba68d8b7795649f3" /><Relationship Type="http://schemas.openxmlformats.org/officeDocument/2006/relationships/image" Target="/ppt/media/image6.png" Id="R981e61be37a44fff" /><Relationship Type="http://schemas.openxmlformats.org/officeDocument/2006/relationships/image" Target="/ppt/media/image7.png" Id="R96c19f00e52147a1" /><Relationship Type="http://schemas.openxmlformats.org/officeDocument/2006/relationships/notesSlide" Target="/ppt/notesSlides/notesSlide1.xml" Id="R264cbb999849431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678dbb8482b4adf" /><Relationship Type="http://schemas.openxmlformats.org/officeDocument/2006/relationships/image" Target="/ppt/media/image3.png" Id="Rfa424b7280654436" /><Relationship Type="http://schemas.openxmlformats.org/officeDocument/2006/relationships/image" Target="/ppt/media/image.svg" Id="Rbe53de294ced4892" /><Relationship Type="http://schemas.openxmlformats.org/officeDocument/2006/relationships/image" Target="/ppt/media/image4.png" Id="R7a94f428ecb44cb6" /><Relationship Type="http://schemas.openxmlformats.org/officeDocument/2006/relationships/image" Target="/ppt/media/image2.svg" Id="R9241bb3ba59645f1" /><Relationship Type="http://schemas.openxmlformats.org/officeDocument/2006/relationships/image" Target="/ppt/media/image6.png" Id="R91ba503de8024530" /><Relationship Type="http://schemas.openxmlformats.org/officeDocument/2006/relationships/image" Target="/ppt/media/image8.png" Id="Rc44d07352568465c" /><Relationship Type="http://schemas.openxmlformats.org/officeDocument/2006/relationships/notesSlide" Target="/ppt/notesSlides/notesSlide2.xml" Id="Ra52bb3a93dc94bc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fc6e8b8fc5a489b" /><Relationship Type="http://schemas.openxmlformats.org/officeDocument/2006/relationships/image" Target="/ppt/media/image3.png" Id="Rb33fe3aaac2d4a31" /><Relationship Type="http://schemas.openxmlformats.org/officeDocument/2006/relationships/image" Target="/ppt/media/image.svg" Id="R535070874a5a419c" /><Relationship Type="http://schemas.openxmlformats.org/officeDocument/2006/relationships/image" Target="/ppt/media/image4.png" Id="R7cd234fbcdcc47d1" /><Relationship Type="http://schemas.openxmlformats.org/officeDocument/2006/relationships/image" Target="/ppt/media/image2.svg" Id="Rfe21b1e201f744ce" /><Relationship Type="http://schemas.openxmlformats.org/officeDocument/2006/relationships/image" Target="/ppt/media/image6.png" Id="Rcd906ce508b14711" /><Relationship Type="http://schemas.openxmlformats.org/officeDocument/2006/relationships/hyperlink" Target="https://asciinema.org/a/V4HAsx4PLMfS75hi" TargetMode="External" Id="R32def7217c01407d" /><Relationship Type="http://schemas.openxmlformats.org/officeDocument/2006/relationships/notesSlide" Target="/ppt/notesSlides/notesSlide3.xml" Id="Raeb9bef8fde14ec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6d05cd8e3664b92" /><Relationship Type="http://schemas.openxmlformats.org/officeDocument/2006/relationships/image" Target="/ppt/media/image3.png" Id="R324d83c968804e78" /><Relationship Type="http://schemas.openxmlformats.org/officeDocument/2006/relationships/image" Target="/ppt/media/image.svg" Id="R4632aefcd377485b" /><Relationship Type="http://schemas.openxmlformats.org/officeDocument/2006/relationships/image" Target="/ppt/media/image4.png" Id="Ra702af1b0e4c47bd" /><Relationship Type="http://schemas.openxmlformats.org/officeDocument/2006/relationships/image" Target="/ppt/media/image2.svg" Id="R186a3e1e76924a9a" /><Relationship Type="http://schemas.openxmlformats.org/officeDocument/2006/relationships/image" Target="/ppt/media/image6.png" Id="Rfc5b6ed7ddf34ebd" /><Relationship Type="http://schemas.openxmlformats.org/officeDocument/2006/relationships/chart" Target="/ppt/slides/charts/chart1.xml" Id="R0090869a544d44e0" /><Relationship Type="http://schemas.openxmlformats.org/officeDocument/2006/relationships/chart" Target="/ppt/slides/charts/chart2.xml" Id="R984b4c59cd5b4e65" /><Relationship Type="http://schemas.openxmlformats.org/officeDocument/2006/relationships/notesSlide" Target="/ppt/notesSlides/notesSlide4.xml" Id="R22839ad9b7ff494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2825c9c3c1f45c8" /><Relationship Type="http://schemas.openxmlformats.org/officeDocument/2006/relationships/image" Target="/ppt/media/image3.png" Id="Rc0adfebd421848b8" /><Relationship Type="http://schemas.openxmlformats.org/officeDocument/2006/relationships/image" Target="/ppt/media/image.svg" Id="R0dd1d86fbae846c8" /><Relationship Type="http://schemas.openxmlformats.org/officeDocument/2006/relationships/image" Target="/ppt/media/image4.png" Id="R519d76628b5d4bc5" /><Relationship Type="http://schemas.openxmlformats.org/officeDocument/2006/relationships/image" Target="/ppt/media/image2.svg" Id="Rc0bf4463fb844701" /><Relationship Type="http://schemas.openxmlformats.org/officeDocument/2006/relationships/image" Target="/ppt/media/image6.png" Id="R7d0dc310f3d74b86" /><Relationship Type="http://schemas.openxmlformats.org/officeDocument/2006/relationships/notesSlide" Target="/ppt/notesSlides/notesSlide5.xml" Id="R8a2b914ff4084ea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c4ad8fdfa9e4b0f" /><Relationship Type="http://schemas.openxmlformats.org/officeDocument/2006/relationships/image" Target="/ppt/media/image3.png" Id="R596fbf7383e94116" /><Relationship Type="http://schemas.openxmlformats.org/officeDocument/2006/relationships/image" Target="/ppt/media/image.svg" Id="R40afa8bbb3d44b4d" /><Relationship Type="http://schemas.openxmlformats.org/officeDocument/2006/relationships/image" Target="/ppt/media/image4.png" Id="R472a4e1b07764003" /><Relationship Type="http://schemas.openxmlformats.org/officeDocument/2006/relationships/image" Target="/ppt/media/image2.svg" Id="Rd8b6b1bb5ae94cf0" /><Relationship Type="http://schemas.openxmlformats.org/officeDocument/2006/relationships/image" Target="/ppt/media/image6.png" Id="R642ecf53431a4367" /><Relationship Type="http://schemas.openxmlformats.org/officeDocument/2006/relationships/chart" Target="/ppt/slides/charts/chart3.xml" Id="Rec8e09b807fd4ad6" /><Relationship Type="http://schemas.openxmlformats.org/officeDocument/2006/relationships/notesSlide" Target="/ppt/notesSlides/notesSlide6.xml" Id="R4880d8c2bfda41d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428093e2f0e4518" /><Relationship Type="http://schemas.openxmlformats.org/officeDocument/2006/relationships/image" Target="/ppt/media/image3.png" Id="Rdb4b6d7e79834a86" /><Relationship Type="http://schemas.openxmlformats.org/officeDocument/2006/relationships/image" Target="/ppt/media/image.svg" Id="R8d4ad7f35b5d45c6" /><Relationship Type="http://schemas.openxmlformats.org/officeDocument/2006/relationships/image" Target="/ppt/media/image4.png" Id="Rd1f544ca9e494361" /><Relationship Type="http://schemas.openxmlformats.org/officeDocument/2006/relationships/image" Target="/ppt/media/image2.svg" Id="Rf8dd2ce7a01d4fe7" /><Relationship Type="http://schemas.openxmlformats.org/officeDocument/2006/relationships/image" Target="/ppt/media/image6.png" Id="Rc4cd07397a1346c1" /><Relationship Type="http://schemas.openxmlformats.org/officeDocument/2006/relationships/notesSlide" Target="/ppt/notesSlides/notesSlide7.xml" Id="R742d999d0b0e400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6269276a177413c" /><Relationship Type="http://schemas.openxmlformats.org/officeDocument/2006/relationships/image" Target="/ppt/media/image3.png" Id="Rb31f2c4e623043f0" /><Relationship Type="http://schemas.openxmlformats.org/officeDocument/2006/relationships/image" Target="/ppt/media/image.svg" Id="R86e79d7ba177407a" /><Relationship Type="http://schemas.openxmlformats.org/officeDocument/2006/relationships/image" Target="/ppt/media/image4.png" Id="R4a2b9d1d02894d4a" /><Relationship Type="http://schemas.openxmlformats.org/officeDocument/2006/relationships/image" Target="/ppt/media/image2.svg" Id="R88dad02ab6b449b5" /><Relationship Type="http://schemas.openxmlformats.org/officeDocument/2006/relationships/image" Target="/ppt/media/image6.png" Id="Rdb3f728e89864645" /><Relationship Type="http://schemas.openxmlformats.org/officeDocument/2006/relationships/notesSlide" Target="/ppt/notesSlides/notesSlide8.xml" Id="Ra49530aefca646a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0d75d7eede7450e" /><Relationship Type="http://schemas.openxmlformats.org/officeDocument/2006/relationships/image" Target="/ppt/media/image3.png" Id="R695313d8e8b8471e" /><Relationship Type="http://schemas.openxmlformats.org/officeDocument/2006/relationships/image" Target="/ppt/media/image.svg" Id="Rd0e092157436436e" /><Relationship Type="http://schemas.openxmlformats.org/officeDocument/2006/relationships/image" Target="/ppt/media/image4.png" Id="R5a94426c5a9f458a" /><Relationship Type="http://schemas.openxmlformats.org/officeDocument/2006/relationships/image" Target="/ppt/media/image2.svg" Id="Rdbadfc1b7a2e48c3" /><Relationship Type="http://schemas.openxmlformats.org/officeDocument/2006/relationships/image" Target="/ppt/media/image6.png" Id="R775608034ac54a60" /><Relationship Type="http://schemas.openxmlformats.org/officeDocument/2006/relationships/chart" Target="/ppt/slides/charts/chart4.xml" Id="R18e301a78c3f4106" /><Relationship Type="http://schemas.openxmlformats.org/officeDocument/2006/relationships/notesSlide" Target="/ppt/notesSlides/notesSlide9.xml" Id="R61f0ff7aac574f1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ee9175c485b45bb" /><Relationship Type="http://schemas.openxmlformats.org/officeDocument/2006/relationships/image" Target="/ppt/media/image3.png" Id="R132186fcc724467f" /><Relationship Type="http://schemas.openxmlformats.org/officeDocument/2006/relationships/image" Target="/ppt/media/image.svg" Id="R9bb7536ff29a4f35" /><Relationship Type="http://schemas.openxmlformats.org/officeDocument/2006/relationships/image" Target="/ppt/media/image4.png" Id="R7b1324156d3b47ec" /><Relationship Type="http://schemas.openxmlformats.org/officeDocument/2006/relationships/image" Target="/ppt/media/image2.svg" Id="Re460511ab7de4cf4" /><Relationship Type="http://schemas.openxmlformats.org/officeDocument/2006/relationships/image" Target="/ppt/media/image6.png" Id="R170c4809717c4a1e" /><Relationship Type="http://schemas.openxmlformats.org/officeDocument/2006/relationships/notesSlide" Target="/ppt/notesSlides/notesSlide10.xml" Id="R28c2dc6aaebc4eab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用例数</c:v>
          </c:tx>
          <c:spPr>
            <a:solidFill xmlns:a="http://schemas.openxmlformats.org/drawingml/2006/main">
              <a:srgbClr val="4A89C9"/>
            </a:solidFill>
          </c:spPr>
          <c:cat>
            <c:strRef>
              <c:f>'Chart Data'!$A$2:$A$7</c:f>
              <c:strCache>
                <c:ptCount val="6"/>
                <c:pt idx="0">
                  <c:v>等价类</c:v>
                </c:pt>
                <c:pt idx="1">
                  <c:v>边界值</c:v>
                </c:pt>
                <c:pt idx="2">
                  <c:v>错误推测</c:v>
                </c:pt>
                <c:pt idx="3">
                  <c:v>状态场景</c:v>
                </c:pt>
                <c:pt idx="4">
                  <c:v>安全性</c:v>
                </c:pt>
                <c:pt idx="5">
                  <c:v>Mock</c:v>
                </c:pt>
              </c:strCache>
            </c:strRef>
          </c:cat>
          <c:val>
            <c:numRef>
              <c:f>'Chart Data'!$B$2:$B$7</c:f>
              <c:numCache>
                <c:formatCode>General</c:formatCode>
                <c:ptCount val="6"/>
                <c:pt idx="0">
                  <c:v>3</c:v>
                </c:pt>
                <c:pt idx="1">
                  <c:v>5</c:v>
                </c:pt>
                <c:pt idx="2">
                  <c:v>5</c:v>
                </c:pt>
                <c:pt idx="3">
                  <c:v>4</c:v>
                </c:pt>
                <c:pt idx="4">
                  <c:v>2</c:v>
                </c:pt>
                <c:pt idx="5">
                  <c:v>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243746"/>
                  </a:solidFill>
                  <a:latin typeface="思源黑体 1"/>
                  <a:ea typeface="思源黑体 1"/>
                  <a:cs typeface="思源黑体 1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思源黑体 1"/>
                <a:ea typeface="思源黑体 1"/>
                <a:cs typeface="思源黑体 1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445566"/>
                </a:solidFill>
                <a:latin typeface="思源黑体 1"/>
                <a:ea typeface="思源黑体 1"/>
                <a:cs typeface="思源黑体 1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用例数</c:v>
          </c:tx>
          <c:spPr>
            <a:solidFill xmlns:a="http://schemas.openxmlformats.org/drawingml/2006/main">
              <a:srgbClr val="7BA6D0"/>
            </a:solidFill>
          </c:spPr>
          <c:cat>
            <c:strRef>
              <c:f>'Chart Data'!$A$2:$A$3</c:f>
              <c:strCache>
                <c:ptCount val="2"/>
                <c:pt idx="0">
                  <c:v>模块一</c:v>
                </c:pt>
                <c:pt idx="1">
                  <c:v>模块二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33</c:v>
                </c:pt>
                <c:pt idx="1">
                  <c:v>20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 b="1">
                  <a:solidFill>
                    <a:srgbClr val="243746"/>
                  </a:solidFill>
                  <a:latin typeface="思源黑体 1"/>
                  <a:ea typeface="思源黑体 1"/>
                  <a:cs typeface="思源黑体 1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思源黑体 1"/>
                <a:ea typeface="思源黑体 1"/>
                <a:cs typeface="思源黑体 1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445566"/>
                </a:solidFill>
                <a:latin typeface="思源黑体 1"/>
                <a:ea typeface="思源黑体 1"/>
                <a:cs typeface="思源黑体 1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doughnutChart>
        <c:ser>
          <c:idx val="0"/>
          <c:order val="0"/>
          <c:tx>
            <c:v>模块二首轮</c:v>
          </c:tx>
          <c:dPt>
            <c:idx val="0"/>
            <c:spPr>
              <a:solidFill xmlns:a="http://schemas.openxmlformats.org/drawingml/2006/main">
                <a:srgbClr val="78B88A"/>
              </a:solidFill>
            </c:spPr>
          </c:dPt>
          <c:dPt>
            <c:idx val="1"/>
            <c:spPr>
              <a:solidFill xmlns:a="http://schemas.openxmlformats.org/drawingml/2006/main">
                <a:srgbClr val="D96C6C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通过</c:v>
                </c:pt>
                <c:pt idx="1">
                  <c:v>失败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18</c:v>
                </c:pt>
                <c:pt idx="1">
                  <c:v>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243746"/>
                  </a:solidFill>
                  <a:latin typeface="思源黑体 1"/>
                  <a:ea typeface="思源黑体 1"/>
                  <a:cs typeface="思源黑体 1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holeSize val="58"/>
      </c:doughnutChart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solidFill>
                <a:srgbClr val="445566"/>
              </a:solidFill>
              <a:latin typeface="思源黑体 1"/>
              <a:ea typeface="思源黑体 1"/>
              <a:cs typeface="思源黑体 1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通过用例</c:v>
          </c:tx>
          <c:spPr>
            <a:solidFill xmlns:a="http://schemas.openxmlformats.org/drawingml/2006/main">
              <a:srgbClr val="4A89C9"/>
            </a:solidFill>
          </c:spPr>
          <c:cat>
            <c:strRef>
              <c:f>'Chart Data'!$A$2:$A$3</c:f>
              <c:strCache>
                <c:ptCount val="2"/>
                <c:pt idx="0">
                  <c:v>模块一回归</c:v>
                </c:pt>
                <c:pt idx="1">
                  <c:v>模块二 AI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33</c:v>
                </c:pt>
                <c:pt idx="1">
                  <c:v>20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 b="1">
                  <a:solidFill>
                    <a:srgbClr val="243746"/>
                  </a:solidFill>
                  <a:latin typeface="思源黑体 1"/>
                  <a:ea typeface="思源黑体 1"/>
                  <a:cs typeface="思源黑体 1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思源黑体 1"/>
                <a:ea typeface="思源黑体 1"/>
                <a:cs typeface="思源黑体 1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45566"/>
                </a:solidFill>
                <a:latin typeface="思源黑体 1"/>
                <a:ea typeface="思源黑体 1"/>
                <a:cs typeface="思源黑体 1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78c40ef96549d1">
            <a:alphaModFix amt="20000"/>
            <a:grayscl/>
          </a:blip>
          <a:srcRect xmlns:a="http://schemas.openxmlformats.org/drawingml/2006/main" l="8143" t="4388" r="9410" b="45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514600" y="2095500"/>
            <a:ext cx="4557395" cy="4557395"/>
          </a:xfrm>
          <a:prstGeom xmlns:a="http://schemas.openxmlformats.org/drawingml/2006/main" prst="rect">
            <a:avLst/>
          </a:prstGeom>
        </p:spPr>
      </p:pic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C2D3451C-A19F-4186-8039-5A5390F70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856797">
            <a:off x="501806" y="3981805"/>
            <a:ext cx="12457058" cy="11040067"/>
          </a:xfrm>
          <a:custGeom xmlns:a="http://schemas.openxmlformats.org/drawingml/2006/main">
            <a:rect l="l" t="t" r="r" b="b"/>
            <a:pathLst>
              <a:path w="12457058" h="11040067">
                <a:moveTo>
                  <a:pt x="0" y="0"/>
                </a:moveTo>
                <a:lnTo>
                  <a:pt x="12457058" y="0"/>
                </a:lnTo>
                <a:lnTo>
                  <a:pt x="12457058" y="11040067"/>
                </a:lnTo>
                <a:lnTo>
                  <a:pt x="0" y="11040067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c6b23cc5235747e8">
              <a:alphaModFix amt="46000"/>
              <a:extLst>
                <a:ext uri="{96DAC541-7B7A-43D3-8B79-37D633B846F1}">
                  <asvg:svgBlip xmlns:asvg="http://schemas.microsoft.com/office/drawing/2016/SVG/main" r:embed="Re55b10fdcdbf457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4924ADFE-65C2-456D-8D5E-62B0C5333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8933" y="3643818"/>
            <a:ext cx="9404868" cy="8335064"/>
          </a:xfrm>
          <a:custGeom xmlns:a="http://schemas.openxmlformats.org/drawingml/2006/main">
            <a:rect l="l" t="t" r="r" b="b"/>
            <a:pathLst>
              <a:path w="9404868" h="8335064">
                <a:moveTo>
                  <a:pt x="0" y="0"/>
                </a:moveTo>
                <a:lnTo>
                  <a:pt x="9404868" y="0"/>
                </a:lnTo>
                <a:lnTo>
                  <a:pt x="9404868" y="8335064"/>
                </a:lnTo>
                <a:lnTo>
                  <a:pt x="0" y="8335064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c6b23cc5235747e8">
              <a:alphaModFix amt="65000"/>
              <a:extLst>
                <a:ext uri="{96DAC541-7B7A-43D3-8B79-37D633B846F1}">
                  <asvg:svgBlip xmlns:asvg="http://schemas.microsoft.com/office/drawing/2016/SVG/main" r:embed="Re55b10fdcdbf457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A2A1834C-AE99-4EA8-80EE-CE20FFBF2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847318">
            <a:off x="8106763" y="4841146"/>
            <a:ext cx="10177663" cy="9019954"/>
          </a:xfrm>
          <a:custGeom xmlns:a="http://schemas.openxmlformats.org/drawingml/2006/main">
            <a:rect l="l" t="t" r="r" b="b"/>
            <a:pathLst>
              <a:path w="10177663" h="9019954">
                <a:moveTo>
                  <a:pt x="0" y="0"/>
                </a:moveTo>
                <a:lnTo>
                  <a:pt x="10177664" y="0"/>
                </a:lnTo>
                <a:lnTo>
                  <a:pt x="10177664" y="9019954"/>
                </a:lnTo>
                <a:lnTo>
                  <a:pt x="0" y="9019954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715bd27e898d4c89">
              <a:alphaModFix amt="31000"/>
              <a:extLst>
                <a:ext uri="{96DAC541-7B7A-43D3-8B79-37D633B846F1}">
                  <asvg:svgBlip xmlns:asvg="http://schemas.microsoft.com/office/drawing/2016/SVG/main" r:embed="R27d2252323134cd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C52FC917-235A-4F99-8DDC-5F8406F30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6543" y="5930018"/>
            <a:ext cx="599057" cy="599057"/>
          </a:xfrm>
          <a:custGeom xmlns:a="http://schemas.openxmlformats.org/drawingml/2006/main">
            <a:rect l="l" t="t" r="r" b="b"/>
            <a:pathLst>
              <a:path w="812800" h="812800">
                <a:moveTo>
                  <a:pt x="129235" y="0"/>
                </a:moveTo>
                <a:lnTo>
                  <a:pt x="683565" y="0"/>
                </a:lnTo>
                <a:cubicBezTo>
                  <a:pt x="717840" y="0"/>
                  <a:pt x="750712" y="13616"/>
                  <a:pt x="774948" y="37852"/>
                </a:cubicBezTo>
                <a:cubicBezTo>
                  <a:pt x="799184" y="62088"/>
                  <a:pt x="812800" y="94960"/>
                  <a:pt x="812800" y="129235"/>
                </a:cubicBezTo>
                <a:lnTo>
                  <a:pt x="812800" y="683565"/>
                </a:lnTo>
                <a:cubicBezTo>
                  <a:pt x="812800" y="717840"/>
                  <a:pt x="799184" y="750712"/>
                  <a:pt x="774948" y="774948"/>
                </a:cubicBezTo>
                <a:cubicBezTo>
                  <a:pt x="750712" y="799184"/>
                  <a:pt x="717840" y="812800"/>
                  <a:pt x="683565" y="812800"/>
                </a:cubicBezTo>
                <a:lnTo>
                  <a:pt x="129235" y="812800"/>
                </a:lnTo>
                <a:cubicBezTo>
                  <a:pt x="57861" y="812800"/>
                  <a:pt x="0" y="754939"/>
                  <a:pt x="0" y="683565"/>
                </a:cubicBezTo>
                <a:lnTo>
                  <a:pt x="0" y="129235"/>
                </a:lnTo>
                <a:cubicBezTo>
                  <a:pt x="0" y="57861"/>
                  <a:pt x="57861" y="0"/>
                  <a:pt x="129235" y="0"/>
                </a:cubicBezTo>
                <a:close/>
              </a:path>
            </a:pathLst>
          </a:custGeom>
          <a:solidFill xmlns:a="http://schemas.openxmlformats.org/drawingml/2006/main">
            <a:srgbClr val="5C6065"/>
          </a:solidFill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52B93D72-A49B-44EE-86D1-CB5A20AA0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6543" y="5894918"/>
            <a:ext cx="599057" cy="63415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3210"/>
              </a:lnSpc>
              <a:buNone/>
            </a:pPr>
            <a:endParaRPr/>
          </a:p>
        </p:txBody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BD27ECAD-65C5-45D0-BFBB-348D624FE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296" y="6066804"/>
            <a:ext cx="305550" cy="325486"/>
          </a:xfrm>
          <a:custGeom xmlns:a="http://schemas.openxmlformats.org/drawingml/2006/main">
            <a:rect l="l" t="t" r="r" b="b"/>
            <a:pathLst>
              <a:path w="305550" h="325486">
                <a:moveTo>
                  <a:pt x="0" y="0"/>
                </a:moveTo>
                <a:lnTo>
                  <a:pt x="305550" y="0"/>
                </a:lnTo>
                <a:lnTo>
                  <a:pt x="305550" y="325485"/>
                </a:lnTo>
                <a:lnTo>
                  <a:pt x="0" y="32548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e303623fbc554ce7">
              <a:extLst>
                <a:ext uri="{96DAC541-7B7A-43D3-8B79-37D633B846F1}">
                  <asvg:svgBlip xmlns:asvg="http://schemas.microsoft.com/office/drawing/2016/SVG/main" r:embed="Rba68d8b7795649f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0" name="Freeform 10">
            <a:extLst xmlns:a="http://schemas.openxmlformats.org/drawingml/2006/main">
              <a:ext uri="{FF2B5EF4-FFF2-40B4-BE49-F238E27FC236}">
                <a16:creationId xmlns:a16="http://schemas.microsoft.com/office/drawing/2014/main" id="{AB3FA899-AEF0-4878-9CC6-DA364104F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1058" y="5930018"/>
            <a:ext cx="599057" cy="599057"/>
          </a:xfrm>
          <a:custGeom xmlns:a="http://schemas.openxmlformats.org/drawingml/2006/main">
            <a:rect l="l" t="t" r="r" b="b"/>
            <a:pathLst>
              <a:path w="812800" h="812800">
                <a:moveTo>
                  <a:pt x="129235" y="0"/>
                </a:moveTo>
                <a:lnTo>
                  <a:pt x="683565" y="0"/>
                </a:lnTo>
                <a:cubicBezTo>
                  <a:pt x="717840" y="0"/>
                  <a:pt x="750712" y="13616"/>
                  <a:pt x="774948" y="37852"/>
                </a:cubicBezTo>
                <a:cubicBezTo>
                  <a:pt x="799184" y="62088"/>
                  <a:pt x="812800" y="94960"/>
                  <a:pt x="812800" y="129235"/>
                </a:cubicBezTo>
                <a:lnTo>
                  <a:pt x="812800" y="683565"/>
                </a:lnTo>
                <a:cubicBezTo>
                  <a:pt x="812800" y="717840"/>
                  <a:pt x="799184" y="750712"/>
                  <a:pt x="774948" y="774948"/>
                </a:cubicBezTo>
                <a:cubicBezTo>
                  <a:pt x="750712" y="799184"/>
                  <a:pt x="717840" y="812800"/>
                  <a:pt x="683565" y="812800"/>
                </a:cubicBezTo>
                <a:lnTo>
                  <a:pt x="129235" y="812800"/>
                </a:lnTo>
                <a:cubicBezTo>
                  <a:pt x="57861" y="812800"/>
                  <a:pt x="0" y="754939"/>
                  <a:pt x="0" y="683565"/>
                </a:cubicBezTo>
                <a:lnTo>
                  <a:pt x="0" y="129235"/>
                </a:lnTo>
                <a:cubicBezTo>
                  <a:pt x="0" y="57861"/>
                  <a:pt x="57861" y="0"/>
                  <a:pt x="129235" y="0"/>
                </a:cubicBezTo>
                <a:close/>
              </a:path>
            </a:pathLst>
          </a:custGeom>
          <a:solidFill xmlns:a="http://schemas.openxmlformats.org/drawingml/2006/main">
            <a:srgbClr val="91949C"/>
          </a:solidFill>
        </p:spPr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3F3660B2-B496-475F-9416-3AC770ADA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1058" y="5894918"/>
            <a:ext cx="599057" cy="63415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3210"/>
              </a:lnSpc>
              <a:buNone/>
            </a:pPr>
            <a:endParaRPr/>
          </a:p>
        </p:txBody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DB25B421-E619-4842-83ED-EE41793F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7812" y="6066804"/>
            <a:ext cx="305550" cy="325486"/>
          </a:xfrm>
          <a:custGeom xmlns:a="http://schemas.openxmlformats.org/drawingml/2006/main">
            <a:rect l="l" t="t" r="r" b="b"/>
            <a:pathLst>
              <a:path w="305550" h="325486">
                <a:moveTo>
                  <a:pt x="0" y="0"/>
                </a:moveTo>
                <a:lnTo>
                  <a:pt x="305550" y="0"/>
                </a:lnTo>
                <a:lnTo>
                  <a:pt x="305550" y="325485"/>
                </a:lnTo>
                <a:lnTo>
                  <a:pt x="0" y="32548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e303623fbc554ce7">
              <a:extLst>
                <a:ext uri="{96DAC541-7B7A-43D3-8B79-37D633B846F1}">
                  <asvg:svgBlip xmlns:asvg="http://schemas.microsoft.com/office/drawing/2016/SVG/main" r:embed="Rba68d8b7795649f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8E4B7B8B-19D7-4BF8-A541-9169411D4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717" y="237690"/>
            <a:ext cx="3178258" cy="942458"/>
          </a:xfrm>
          <a:custGeom xmlns:a="http://schemas.openxmlformats.org/drawingml/2006/main">
            <a:rect l="l" t="t" r="r" b="b"/>
            <a:pathLst>
              <a:path w="3178258" h="942458">
                <a:moveTo>
                  <a:pt x="0" y="0"/>
                </a:moveTo>
                <a:lnTo>
                  <a:pt x="3178258" y="0"/>
                </a:lnTo>
                <a:lnTo>
                  <a:pt x="3178258" y="942457"/>
                </a:lnTo>
                <a:lnTo>
                  <a:pt x="0" y="942457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981e61be37a44fff"/>
            <a:stretch>
              <a:fillRect l="-637" t="-1274" r="-637" b="0"/>
            </a:stretch>
          </a:blip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3E020E47-330A-4A48-AEF4-3EB2EDAC8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15240000" cy="19342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0"/>
            </a:pPr>
            <a:r>
              <a:rPr sz="9000" b="1">
                <a:solidFill>
                  <a:srgbClr val="1E1E1E"/>
                </a:solidFill>
                <a:latin typeface="思源黑体 1 Bold"/>
                <a:ea typeface="思源黑体 1 Bold"/>
                <a:cs typeface="思源黑体 1 Bold"/>
              </a:rPr>
              <a:t>EgoBlind 模块二 AI 辅助测试</a:t>
            </a:r>
            <a:endParaRPr sz="10955" b="1">
              <a:solidFill>
                <a:srgbClr val="1E1E1E"/>
              </a:solidFill>
              <a:latin typeface="思源黑体 1 Bold"/>
              <a:ea typeface="思源黑体 1 Bold"/>
              <a:cs typeface="思源黑体 1 Bold"/>
            </a:endParaRPr>
          </a:p>
        </p:txBody>
      </p:sp>
      <p:sp>
        <p:nvSpPr>
          <p:cNvPr id="15" name="TextBox 15">
            <a:extLst xmlns:a="http://schemas.openxmlformats.org/drawingml/2006/main">
              <a:ext uri="{FF2B5EF4-FFF2-40B4-BE49-F238E27FC236}">
                <a16:creationId xmlns:a16="http://schemas.microsoft.com/office/drawing/2014/main" id="{D9A43524-1665-4597-AA02-2EED64580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6000750"/>
            <a:ext cx="26670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/>
            </a:pPr>
            <a:r>
              <a:rPr sz="2250">
                <a:solidFill>
                  <a:srgbClr val="1E1E1E"/>
                </a:solidFill>
                <a:latin typeface="思源黑体 1"/>
                <a:ea typeface="思源黑体 1"/>
                <a:cs typeface="思源黑体 1"/>
              </a:rPr>
              <a:t>邱豪、王渤</a:t>
            </a:r>
            <a:endParaRPr sz="2220">
              <a:solidFill>
                <a:srgbClr val="1E1E1E"/>
              </a:solidFill>
              <a:latin typeface="思源黑体 1"/>
              <a:ea typeface="思源黑体 1"/>
              <a:cs typeface="思源黑体 1"/>
            </a:endParaRPr>
          </a:p>
        </p:txBody>
      </p:sp>
      <p:sp>
        <p:nvSpPr>
          <p:cNvPr id="16" name="TextBox 16">
            <a:extLst xmlns:a="http://schemas.openxmlformats.org/drawingml/2006/main">
              <a:ext uri="{FF2B5EF4-FFF2-40B4-BE49-F238E27FC236}">
                <a16:creationId xmlns:a16="http://schemas.microsoft.com/office/drawing/2014/main" id="{B4D813B9-5210-4FBA-B78C-F8170CD7F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000750"/>
            <a:ext cx="38100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/>
            </a:pPr>
            <a:r>
              <a:rPr sz="2250">
                <a:solidFill>
                  <a:srgbClr val="1E1E1E"/>
                </a:solidFill>
                <a:latin typeface="思源黑体 1"/>
                <a:ea typeface="思源黑体 1"/>
                <a:cs typeface="思源黑体 1"/>
              </a:rPr>
              <a:t>2026 年 9 月</a:t>
            </a:r>
            <a:endParaRPr sz="2220">
              <a:solidFill>
                <a:srgbClr val="1E1E1E"/>
              </a:solidFill>
              <a:latin typeface="思源黑体 1"/>
              <a:ea typeface="思源黑体 1"/>
              <a:cs typeface="思源黑体 1"/>
            </a:endParaRP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F3796698-0965-42C9-B2D0-0E9C910EA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2599" y="858203"/>
            <a:ext cx="4247486" cy="32194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ts val="2640"/>
              </a:lnSpc>
              <a:buNone/>
            </a:pPr>
            <a:r>
              <a:rPr sz="2000" spc="196">
                <a:solidFill>
                  <a:srgbClr val="5C6065"/>
                </a:solidFill>
                <a:latin typeface="思源黑体 1"/>
                <a:ea typeface="思源黑体 1"/>
                <a:cs typeface="思源黑体 1"/>
              </a:rPr>
              <a:t>华中科技大学软件学院</a:t>
            </a:r>
          </a:p>
        </p:txBody>
      </p:sp>
      <p:sp>
        <p:nvSpPr>
          <p:cNvPr id="19" name="Freeform 19">
            <a:extLst xmlns:a="http://schemas.openxmlformats.org/drawingml/2006/main">
              <a:ext uri="{FF2B5EF4-FFF2-40B4-BE49-F238E27FC236}">
                <a16:creationId xmlns:a16="http://schemas.microsoft.com/office/drawing/2014/main" id="{9DECD53D-8428-49D5-9682-A94C901F3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9622" y="6939871"/>
            <a:ext cx="13708378" cy="3347129"/>
          </a:xfrm>
          <a:custGeom xmlns:a="http://schemas.openxmlformats.org/drawingml/2006/main">
            <a:rect l="l" t="t" r="r" b="b"/>
            <a:pathLst>
              <a:path w="13708378" h="3347129">
                <a:moveTo>
                  <a:pt x="0" y="0"/>
                </a:moveTo>
                <a:lnTo>
                  <a:pt x="13708378" y="0"/>
                </a:lnTo>
                <a:lnTo>
                  <a:pt x="13708378" y="3347129"/>
                </a:lnTo>
                <a:lnTo>
                  <a:pt x="0" y="334712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96c19f00e52147a1"/>
            <a:stretch>
              <a:fillRect l="0" t="0" r="0" b="0"/>
            </a:stretch>
          </a:blipFill>
        </p:spPr>
      </p:sp>
    </p:spTree>
    <p:extLst>
      <p:ext uri="{BB962C8B-B14F-4D97-AF65-F5344CB8AC3E}">
        <p14:creationId xmlns:p14="http://schemas.microsoft.com/office/powerpoint/2010/main" val="170539356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9A3D8F68-33DE-4F9A-A069-C7BDDB5AC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9610498">
            <a:off x="-145264" y="-787739"/>
            <a:ext cx="2962940" cy="2625905"/>
          </a:xfrm>
          <a:custGeom xmlns:a="http://schemas.openxmlformats.org/drawingml/2006/main">
            <a:rect l="l" t="t" r="r" b="b"/>
            <a:pathLst>
              <a:path w="2962940" h="2625905">
                <a:moveTo>
                  <a:pt x="0" y="0"/>
                </a:moveTo>
                <a:lnTo>
                  <a:pt x="2962940" y="0"/>
                </a:lnTo>
                <a:lnTo>
                  <a:pt x="2962940" y="2625905"/>
                </a:lnTo>
                <a:lnTo>
                  <a:pt x="0" y="262590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fa424b7280654436">
              <a:alphaModFix amt="46000"/>
              <a:extLst>
                <a:ext uri="{96DAC541-7B7A-43D3-8B79-37D633B846F1}">
                  <asvg:svgBlip xmlns:asvg="http://schemas.microsoft.com/office/drawing/2016/SVG/main" r:embed="Rbe53de294ced489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21F16FED-E14E-4711-B9EC-7C1090FDE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9967101">
            <a:off x="-840298" y="-451988"/>
            <a:ext cx="2792062" cy="2474465"/>
          </a:xfrm>
          <a:custGeom xmlns:a="http://schemas.openxmlformats.org/drawingml/2006/main">
            <a:rect l="l" t="t" r="r" b="b"/>
            <a:pathLst>
              <a:path w="2792062" h="2474465">
                <a:moveTo>
                  <a:pt x="0" y="0"/>
                </a:moveTo>
                <a:lnTo>
                  <a:pt x="2792062" y="0"/>
                </a:lnTo>
                <a:lnTo>
                  <a:pt x="2792062" y="2474465"/>
                </a:lnTo>
                <a:lnTo>
                  <a:pt x="0" y="247446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7a94f428ecb44cb6">
              <a:alphaModFix amt="31000"/>
              <a:extLst>
                <a:ext uri="{96DAC541-7B7A-43D3-8B79-37D633B846F1}">
                  <asvg:svgBlip xmlns:asvg="http://schemas.microsoft.com/office/drawing/2016/SVG/main" r:embed="R9241bb3ba59645f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5" name="Freeform 15">
            <a:extLst xmlns:a="http://schemas.openxmlformats.org/drawingml/2006/main">
              <a:ext uri="{FF2B5EF4-FFF2-40B4-BE49-F238E27FC236}">
                <a16:creationId xmlns:a16="http://schemas.microsoft.com/office/drawing/2014/main" id="{17CED48D-A808-48DF-B4A6-1DC193A1C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0578" y="237690"/>
            <a:ext cx="3178258" cy="942458"/>
          </a:xfrm>
          <a:custGeom xmlns:a="http://schemas.openxmlformats.org/drawingml/2006/main">
            <a:rect l="l" t="t" r="r" b="b"/>
            <a:pathLst>
              <a:path w="3178258" h="942458">
                <a:moveTo>
                  <a:pt x="0" y="0"/>
                </a:moveTo>
                <a:lnTo>
                  <a:pt x="3178257" y="0"/>
                </a:lnTo>
                <a:lnTo>
                  <a:pt x="3178257" y="942457"/>
                </a:lnTo>
                <a:lnTo>
                  <a:pt x="0" y="942457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91ba503de8024530"/>
            <a:stretch>
              <a:fillRect l="-637" t="-1274" r="-637" b="0"/>
            </a:stretch>
          </a:blipFill>
        </p:spPr>
      </p:sp>
      <p:sp>
        <p:nvSpPr>
          <p:cNvPr id="16" name="被测对象">
            <a:extLst xmlns:a="http://schemas.openxmlformats.org/drawingml/2006/main">
              <a:ext uri="{FF2B5EF4-FFF2-40B4-BE49-F238E27FC236}">
                <a16:creationId xmlns:a16="http://schemas.microsoft.com/office/drawing/2014/main" id="{C5DBA246-6346-4E3F-BADC-76B5ADB88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047750"/>
            <a:ext cx="1381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5100" b="1">
                <a:solidFill>
                  <a:srgbClr val="111111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5100" b="1">
                <a:solidFill>
                  <a:srgbClr val="111111"/>
                </a:solidFill>
                <a:latin typeface="思源黑体 2 Bold"/>
                <a:ea typeface="思源黑体 2 Bold"/>
                <a:cs typeface="思源黑体 2 Bold"/>
              </a:rPr>
              <a:t>被测对象</a:t>
            </a:r>
          </a:p>
        </p:txBody>
      </p:sp>
      <p:sp>
        <p:nvSpPr>
          <p:cNvPr id="17" name="02">
            <a:extLst xmlns:a="http://schemas.openxmlformats.org/drawingml/2006/main">
              <a:ext uri="{FF2B5EF4-FFF2-40B4-BE49-F238E27FC236}">
                <a16:creationId xmlns:a16="http://schemas.microsoft.com/office/drawing/2014/main" id="{1A5F1FBA-9C45-4661-BD55-C28F4B2E5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0" y="9353550"/>
            <a:ext cx="857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875" b="0">
                <a:solidFill>
                  <a:srgbClr val="92969E"/>
                </a:solidFill>
                <a:latin typeface="思源黑体 2"/>
                <a:ea typeface="思源黑体 2"/>
                <a:cs typeface="思源黑体 2"/>
              </a:defRPr>
            </a:pPr>
            <a:r>
              <a:rPr sz="1875" b="0">
                <a:solidFill>
                  <a:srgbClr val="92969E"/>
                </a:solidFill>
                <a:latin typeface="思源黑体 2"/>
                <a:ea typeface="思源黑体 2"/>
                <a:cs typeface="思源黑体 2"/>
              </a:rPr>
              <a:t>02</a:t>
            </a:r>
          </a:p>
        </p:txBody>
      </p:sp>
      <p:sp>
        <p:nvSpPr>
          <p:cNvPr id="18" name="面向盲人视觉辅助的视频问答&#10;数据集与配套研究">
            <a:extLst xmlns:a="http://schemas.openxmlformats.org/drawingml/2006/main">
              <a:ext uri="{FF2B5EF4-FFF2-40B4-BE49-F238E27FC236}">
                <a16:creationId xmlns:a16="http://schemas.microsoft.com/office/drawing/2014/main" id="{90FAA37D-0343-4F68-8991-CEF3FED5F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9760" y="2994199"/>
            <a:ext cx="5864761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3225" b="1">
                <a:solidFill>
                  <a:srgbClr val="44484C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3225" b="1">
                <a:solidFill>
                  <a:srgbClr val="44484C"/>
                </a:solidFill>
                <a:latin typeface="思源黑体 2 Bold"/>
                <a:ea typeface="思源黑体 2 Bold"/>
                <a:cs typeface="思源黑体 2 Bold"/>
              </a:rPr>
              <a:t>模块二聚焦 eval.py：让 AI 参与测试，而不是把 AI 当作被测系统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72B5390-007F-484B-933B-AADD5D4B6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905500"/>
            <a:ext cx="34290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4484C"/>
          </a:solidFill>
          <a:ln xmlns:a="http://schemas.openxmlformats.org/drawingml/2006/main" w="0">
            <a:noFill/>
          </a:ln>
        </p:spPr>
      </p:sp>
      <p:sp>
        <p:nvSpPr>
          <p:cNvPr id="22" name="视频切分">
            <a:extLst xmlns:a="http://schemas.openxmlformats.org/drawingml/2006/main">
              <a:ext uri="{FF2B5EF4-FFF2-40B4-BE49-F238E27FC236}">
                <a16:creationId xmlns:a16="http://schemas.microsoft.com/office/drawing/2014/main" id="{4E5CD190-C132-4636-A8E5-5AB113050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905500"/>
            <a:ext cx="3238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3000" b="1">
                <a:solidFill>
                  <a:srgbClr val="FFFFFF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3000" b="1">
                <a:solidFill>
                  <a:srgbClr val="FFFFFF"/>
                </a:solidFill>
                <a:latin typeface="思源黑体 2 Bold"/>
                <a:ea typeface="思源黑体 2 Bold"/>
                <a:cs typeface="思源黑体 2 Bold"/>
              </a:rPr>
              <a:t>预测解析</a:t>
            </a:r>
          </a:p>
        </p:txBody>
      </p:sp>
      <p:sp>
        <p:nvSpPr>
          <p:cNvPr id="23" name="箭头: 右 22">
            <a:extLst xmlns:a="http://schemas.openxmlformats.org/drawingml/2006/main">
              <a:ext uri="{FF2B5EF4-FFF2-40B4-BE49-F238E27FC236}">
                <a16:creationId xmlns:a16="http://schemas.microsoft.com/office/drawing/2014/main" id="{1D596A08-0193-403E-B860-042F90832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6286500"/>
            <a:ext cx="2286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2969E"/>
          </a:solidFill>
          <a:ln xmlns:a="http://schemas.openxmlformats.org/drawingml/2006/main" w="0">
            <a:noFill/>
          </a:ln>
        </p:spPr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ED6CC11F-9610-404F-B238-4B42768CA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5905500"/>
            <a:ext cx="34290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4484C"/>
          </a:solidFill>
          <a:ln xmlns:a="http://schemas.openxmlformats.org/drawingml/2006/main" w="0">
            <a:noFill/>
          </a:ln>
        </p:spPr>
      </p:sp>
      <p:sp>
        <p:nvSpPr>
          <p:cNvPr id="25" name="数据转换">
            <a:extLst xmlns:a="http://schemas.openxmlformats.org/drawingml/2006/main">
              <a:ext uri="{FF2B5EF4-FFF2-40B4-BE49-F238E27FC236}">
                <a16:creationId xmlns:a16="http://schemas.microsoft.com/office/drawing/2014/main" id="{3F365B6C-8783-4C09-A836-07D78B265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5905500"/>
            <a:ext cx="3238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3000" b="1">
                <a:solidFill>
                  <a:srgbClr val="FFFFFF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3000" b="1">
                <a:solidFill>
                  <a:srgbClr val="FFFFFF"/>
                </a:solidFill>
                <a:latin typeface="思源黑体 2 Bold"/>
                <a:ea typeface="思源黑体 2 Bold"/>
                <a:cs typeface="思源黑体 2 Bold"/>
              </a:rPr>
              <a:t>评分规范化</a:t>
            </a:r>
          </a:p>
        </p:txBody>
      </p:sp>
      <p:sp>
        <p:nvSpPr>
          <p:cNvPr id="26" name="箭头: 右 25">
            <a:extLst xmlns:a="http://schemas.openxmlformats.org/drawingml/2006/main">
              <a:ext uri="{FF2B5EF4-FFF2-40B4-BE49-F238E27FC236}">
                <a16:creationId xmlns:a16="http://schemas.microsoft.com/office/drawing/2014/main" id="{1683EA1B-8DF8-4EB5-A785-22779FFC4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6286500"/>
            <a:ext cx="2286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2969E"/>
          </a:solidFill>
          <a:ln xmlns:a="http://schemas.openxmlformats.org/drawingml/2006/main" w="0">
            <a:noFill/>
          </a:ln>
        </p:spPr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458C18C8-EC74-4D8A-BAAD-2694CECE2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905500"/>
            <a:ext cx="34290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4"/>
          </a:solidFill>
          <a:ln xmlns:a="http://schemas.openxmlformats.org/drawingml/2006/main" w="0">
            <a:noFill/>
          </a:ln>
        </p:spPr>
      </p:sp>
      <p:sp>
        <p:nvSpPr>
          <p:cNvPr id="28" name="模型微调">
            <a:extLst xmlns:a="http://schemas.openxmlformats.org/drawingml/2006/main">
              <a:ext uri="{FF2B5EF4-FFF2-40B4-BE49-F238E27FC236}">
                <a16:creationId xmlns:a16="http://schemas.microsoft.com/office/drawing/2014/main" id="{A7B624DF-3C64-469D-A01E-DC2447D2A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905500"/>
            <a:ext cx="3238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3000" b="1">
                <a:solidFill>
                  <a:srgbClr val="44484C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3000" b="1">
                <a:solidFill>
                  <a:srgbClr val="FFFFFF"/>
                </a:solidFill>
                <a:latin typeface="思源黑体 2 Bold"/>
                <a:ea typeface="思源黑体 2 Bold"/>
                <a:cs typeface="思源黑体 2 Bold"/>
              </a:rPr>
              <a:t>缓存一致性</a:t>
            </a:r>
          </a:p>
        </p:txBody>
      </p:sp>
      <p:sp>
        <p:nvSpPr>
          <p:cNvPr id="29" name="箭头: 右 28">
            <a:extLst xmlns:a="http://schemas.openxmlformats.org/drawingml/2006/main">
              <a:ext uri="{FF2B5EF4-FFF2-40B4-BE49-F238E27FC236}">
                <a16:creationId xmlns:a16="http://schemas.microsoft.com/office/drawing/2014/main" id="{8EE0C237-513D-4E41-B5F0-7FD69B7D9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700" y="6286500"/>
            <a:ext cx="2286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2969E"/>
          </a:solidFill>
          <a:ln xmlns:a="http://schemas.openxmlformats.org/drawingml/2006/main" w="0">
            <a:noFill/>
          </a:ln>
        </p:spPr>
      </p:sp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6C4FC13B-D220-4809-A88A-175F73C8F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5905500"/>
            <a:ext cx="34290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4484C"/>
          </a:solidFill>
          <a:ln xmlns:a="http://schemas.openxmlformats.org/drawingml/2006/main" w="0">
            <a:noFill/>
          </a:ln>
        </p:spPr>
      </p:sp>
      <p:sp>
        <p:nvSpPr>
          <p:cNvPr id="31" name="结果评估">
            <a:extLst xmlns:a="http://schemas.openxmlformats.org/drawingml/2006/main">
              <a:ext uri="{FF2B5EF4-FFF2-40B4-BE49-F238E27FC236}">
                <a16:creationId xmlns:a16="http://schemas.microsoft.com/office/drawing/2014/main" id="{E692F216-2D9C-47B1-BBE9-5A89A310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87375" y="5905500"/>
            <a:ext cx="3238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3000" b="1">
                <a:solidFill>
                  <a:srgbClr val="FFFFFF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3000" b="1">
                <a:solidFill>
                  <a:srgbClr val="FFFFFF"/>
                </a:solidFill>
                <a:latin typeface="思源黑体 2 Bold"/>
                <a:ea typeface="思源黑体 2 Bold"/>
                <a:cs typeface="思源黑体 2 Bold"/>
              </a:rPr>
              <a:t>指标汇总</a:t>
            </a:r>
          </a:p>
        </p:txBody>
      </p:sp>
      <p:sp>
        <p:nvSpPr>
          <p:cNvPr id="32" name="选中模块">
            <a:extLst xmlns:a="http://schemas.openxmlformats.org/drawingml/2006/main">
              <a:ext uri="{FF2B5EF4-FFF2-40B4-BE49-F238E27FC236}">
                <a16:creationId xmlns:a16="http://schemas.microsoft.com/office/drawing/2014/main" id="{D3FB9854-247A-424D-A21F-289B6E20D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7143750"/>
            <a:ext cx="342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50" b="1">
                <a:solidFill>
                  <a:srgbClr val="00558A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2250" b="1">
                <a:solidFill>
                  <a:srgbClr val="00558A"/>
                </a:solidFill>
                <a:latin typeface="思源黑体 2 Bold"/>
                <a:ea typeface="思源黑体 2 Bold"/>
                <a:cs typeface="思源黑体 2 Bold"/>
              </a:rPr>
              <a:t>重点测试</a:t>
            </a:r>
          </a:p>
        </p:txBody>
      </p:sp>
      <p:sp>
        <p:nvSpPr>
          <p:cNvPr id="33" name="选中模块">
            <a:extLst xmlns:a="http://schemas.openxmlformats.org/drawingml/2006/main">
              <a:ext uri="{FF2B5EF4-FFF2-40B4-BE49-F238E27FC236}">
                <a16:creationId xmlns:a16="http://schemas.microsoft.com/office/drawing/2014/main" id="{5ADA804D-3C79-4529-BF31-FFB20D7C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7143750"/>
            <a:ext cx="342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50" b="1">
                <a:solidFill>
                  <a:srgbClr val="00558A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2250" b="1">
                <a:solidFill>
                  <a:srgbClr val="00558A"/>
                </a:solidFill>
                <a:latin typeface="思源黑体 2 Bold"/>
                <a:ea typeface="思源黑体 2 Bold"/>
                <a:cs typeface="思源黑体 2 Bold"/>
              </a:rPr>
              <a:t>重点测试</a:t>
            </a:r>
          </a:p>
        </p:txBody>
      </p:sp>
      <p:sp>
        <p:nvSpPr>
          <p:cNvPr id="34" name="本次不测">
            <a:extLst xmlns:a="http://schemas.openxmlformats.org/drawingml/2006/main">
              <a:ext uri="{FF2B5EF4-FFF2-40B4-BE49-F238E27FC236}">
                <a16:creationId xmlns:a16="http://schemas.microsoft.com/office/drawing/2014/main" id="{E84F22AA-7B56-40EF-8DFD-7E5A186A8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7143750"/>
            <a:ext cx="342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50" b="0">
                <a:solidFill>
                  <a:srgbClr val="92969E"/>
                </a:solidFill>
                <a:latin typeface="思源黑体 2"/>
                <a:ea typeface="思源黑体 2"/>
                <a:cs typeface="思源黑体 2"/>
              </a:defRPr>
            </a:pPr>
            <a:r>
              <a:rPr sz="2250" b="0">
                <a:solidFill>
                  <a:srgbClr val="0072BC"/>
                </a:solidFill>
                <a:latin typeface="思源黑体 2"/>
                <a:ea typeface="思源黑体 2"/>
                <a:cs typeface="思源黑体 2"/>
              </a:rPr>
              <a:t>重点测试</a:t>
            </a:r>
            <a:endParaRPr sz="2250" b="0">
              <a:solidFill>
                <a:srgbClr val="92969E"/>
              </a:solidFill>
              <a:latin typeface="思源黑体 2"/>
              <a:ea typeface="思源黑体 2"/>
              <a:cs typeface="思源黑体 2"/>
            </a:endParaRPr>
          </a:p>
        </p:txBody>
      </p:sp>
      <p:sp>
        <p:nvSpPr>
          <p:cNvPr id="35" name="选中模块">
            <a:extLst xmlns:a="http://schemas.openxmlformats.org/drawingml/2006/main">
              <a:ext uri="{FF2B5EF4-FFF2-40B4-BE49-F238E27FC236}">
                <a16:creationId xmlns:a16="http://schemas.microsoft.com/office/drawing/2014/main" id="{FF0EEB18-F80D-47FC-914C-69B890869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7143750"/>
            <a:ext cx="342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50" b="1">
                <a:solidFill>
                  <a:srgbClr val="00558A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2250" b="1">
                <a:solidFill>
                  <a:srgbClr val="00558A"/>
                </a:solidFill>
                <a:latin typeface="思源黑体 2 Bold"/>
                <a:ea typeface="思源黑体 2 Bold"/>
                <a:cs typeface="思源黑体 2 Bold"/>
              </a:rPr>
              <a:t>重点测试</a:t>
            </a:r>
          </a:p>
        </p:txBody>
      </p:sp>
      <p:sp>
        <p:nvSpPr>
          <p:cNvPr id="36" name="video_split.py&#10;片段时长、音频">
            <a:extLst xmlns:a="http://schemas.openxmlformats.org/drawingml/2006/main">
              <a:ext uri="{FF2B5EF4-FFF2-40B4-BE49-F238E27FC236}">
                <a16:creationId xmlns:a16="http://schemas.microsoft.com/office/drawing/2014/main" id="{2AC1F914-84EC-44E6-BA06-5E547289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7810500"/>
            <a:ext cx="3524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50" b="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defRPr>
            </a:pPr>
            <a:r>
              <a:rPr sz="2250" b="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rPr>
              <a:t>load_predictions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2250" b="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defRPr>
            </a:pPr>
            <a:r>
              <a:rPr sz="225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rPr>
              <a:t>JSONL 安全解析</a:t>
            </a:r>
            <a:endParaRPr sz="2250" b="0">
              <a:solidFill>
                <a:srgbClr val="44484C"/>
              </a:solidFill>
              <a:latin typeface="思源黑体 2"/>
              <a:ea typeface="思源黑体 2"/>
              <a:cs typeface="思源黑体 2"/>
            </a:endParaRPr>
          </a:p>
        </p:txBody>
      </p:sp>
      <p:sp>
        <p:nvSpPr>
          <p:cNvPr id="37" name="convert.py&#10;JSON / JSON">
            <a:extLst xmlns:a="http://schemas.openxmlformats.org/drawingml/2006/main">
              <a:ext uri="{FF2B5EF4-FFF2-40B4-BE49-F238E27FC236}">
                <a16:creationId xmlns:a16="http://schemas.microsoft.com/office/drawing/2014/main" id="{99A58398-245D-40B1-872A-21247148C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7810500"/>
            <a:ext cx="3524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50" b="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defRPr>
            </a:pPr>
            <a:r>
              <a:rPr sz="2250" b="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rPr>
              <a:t>normalize_score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2250" b="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defRPr>
            </a:pPr>
            <a:r>
              <a:rPr sz="225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rPr>
              <a:t>0～5 分边界</a:t>
            </a:r>
            <a:endParaRPr sz="2250" b="0">
              <a:solidFill>
                <a:srgbClr val="44484C"/>
              </a:solidFill>
              <a:latin typeface="思源黑体 2"/>
              <a:ea typeface="思源黑体 2"/>
              <a:cs typeface="思源黑体 2"/>
            </a:endParaRPr>
          </a:p>
        </p:txBody>
      </p:sp>
      <p:sp>
        <p:nvSpPr>
          <p:cNvPr id="38" name="训练效果&#10;模型推理能力">
            <a:extLst xmlns:a="http://schemas.openxmlformats.org/drawingml/2006/main">
              <a:ext uri="{FF2B5EF4-FFF2-40B4-BE49-F238E27FC236}">
                <a16:creationId xmlns:a16="http://schemas.microsoft.com/office/drawing/2014/main" id="{344B09C0-615D-42D5-A3C0-FAB190B27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7810500"/>
            <a:ext cx="3524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50" b="0">
                <a:solidFill>
                  <a:srgbClr val="92969E"/>
                </a:solidFill>
                <a:latin typeface="思源黑体 2"/>
                <a:ea typeface="思源黑体 2"/>
                <a:cs typeface="思源黑体 2"/>
              </a:defRPr>
            </a:pPr>
            <a:r>
              <a:rPr sz="2250">
                <a:solidFill>
                  <a:srgbClr val="4A4F55"/>
                </a:solidFill>
                <a:latin typeface="思源黑体 2"/>
                <a:ea typeface="思源黑体 2"/>
                <a:cs typeface="思源黑体 2"/>
              </a:rPr>
              <a:t>cache_matches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2250" b="0">
                <a:solidFill>
                  <a:srgbClr val="92969E"/>
                </a:solidFill>
                <a:latin typeface="思源黑体 2"/>
                <a:ea typeface="思源黑体 2"/>
                <a:cs typeface="思源黑体 2"/>
              </a:defRPr>
            </a:pPr>
            <a:r>
              <a:rPr sz="2250">
                <a:solidFill>
                  <a:srgbClr val="4A4F55"/>
                </a:solidFill>
                <a:latin typeface="思源黑体 2"/>
                <a:ea typeface="思源黑体 2"/>
                <a:cs typeface="思源黑体 2"/>
              </a:rPr>
              <a:t>跨轮次输入比对</a:t>
            </a:r>
            <a:endParaRPr sz="2250" b="0">
              <a:solidFill>
                <a:srgbClr val="92969E"/>
              </a:solidFill>
              <a:latin typeface="思源黑体 2"/>
              <a:ea typeface="思源黑体 2"/>
              <a:cs typeface="思源黑体 2"/>
            </a:endParaRPr>
          </a:p>
        </p:txBody>
      </p:sp>
      <p:sp>
        <p:nvSpPr>
          <p:cNvPr id="39" name="eval.py&#10;文件解析、指标计算">
            <a:extLst xmlns:a="http://schemas.openxmlformats.org/drawingml/2006/main">
              <a:ext uri="{FF2B5EF4-FFF2-40B4-BE49-F238E27FC236}">
                <a16:creationId xmlns:a16="http://schemas.microsoft.com/office/drawing/2014/main" id="{536D2E57-17B3-4DAB-898A-75275B2B9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7810500"/>
            <a:ext cx="3524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50" b="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defRPr>
            </a:pPr>
            <a:r>
              <a:rPr sz="2250" b="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rPr>
              <a:t>collect_results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2250" b="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defRPr>
            </a:pPr>
            <a:r>
              <a:rPr sz="2250" b="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rPr>
              <a:t>本轮结果隔离</a:t>
            </a:r>
          </a:p>
        </p:txBody>
      </p:sp>
      <p:pic>
        <p:nvPicPr>
          <p:cNvPr id="66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4d07352568465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68006" y="1755934"/>
            <a:ext cx="8207056" cy="366012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337253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9A3D8F68-33DE-4F9A-A069-C7BDDB5AC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9610498">
            <a:off x="-145264" y="-787739"/>
            <a:ext cx="2962940" cy="2625905"/>
          </a:xfrm>
          <a:custGeom xmlns:a="http://schemas.openxmlformats.org/drawingml/2006/main">
            <a:rect l="l" t="t" r="r" b="b"/>
            <a:pathLst>
              <a:path w="2962940" h="2625905">
                <a:moveTo>
                  <a:pt x="0" y="0"/>
                </a:moveTo>
                <a:lnTo>
                  <a:pt x="2962940" y="0"/>
                </a:lnTo>
                <a:lnTo>
                  <a:pt x="2962940" y="2625905"/>
                </a:lnTo>
                <a:lnTo>
                  <a:pt x="0" y="262590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b33fe3aaac2d4a31">
              <a:alphaModFix amt="46000"/>
              <a:extLst>
                <a:ext uri="{96DAC541-7B7A-43D3-8B79-37D633B846F1}">
                  <asvg:svgBlip xmlns:asvg="http://schemas.microsoft.com/office/drawing/2016/SVG/main" r:embed="R535070874a5a419c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21F16FED-E14E-4711-B9EC-7C1090FDE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9967101">
            <a:off x="-840298" y="-451988"/>
            <a:ext cx="2792062" cy="2474465"/>
          </a:xfrm>
          <a:custGeom xmlns:a="http://schemas.openxmlformats.org/drawingml/2006/main">
            <a:rect l="l" t="t" r="r" b="b"/>
            <a:pathLst>
              <a:path w="2792062" h="2474465">
                <a:moveTo>
                  <a:pt x="0" y="0"/>
                </a:moveTo>
                <a:lnTo>
                  <a:pt x="2792062" y="0"/>
                </a:lnTo>
                <a:lnTo>
                  <a:pt x="2792062" y="2474465"/>
                </a:lnTo>
                <a:lnTo>
                  <a:pt x="0" y="247446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7cd234fbcdcc47d1">
              <a:alphaModFix amt="31000"/>
              <a:extLst>
                <a:ext uri="{96DAC541-7B7A-43D3-8B79-37D633B846F1}">
                  <asvg:svgBlip xmlns:asvg="http://schemas.microsoft.com/office/drawing/2016/SVG/main" r:embed="Rfe21b1e201f744ce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5" name="Freeform 15">
            <a:extLst xmlns:a="http://schemas.openxmlformats.org/drawingml/2006/main">
              <a:ext uri="{FF2B5EF4-FFF2-40B4-BE49-F238E27FC236}">
                <a16:creationId xmlns:a16="http://schemas.microsoft.com/office/drawing/2014/main" id="{17CED48D-A808-48DF-B4A6-1DC193A1C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0578" y="237690"/>
            <a:ext cx="3178258" cy="942458"/>
          </a:xfrm>
          <a:custGeom xmlns:a="http://schemas.openxmlformats.org/drawingml/2006/main">
            <a:rect l="l" t="t" r="r" b="b"/>
            <a:pathLst>
              <a:path w="3178258" h="942458">
                <a:moveTo>
                  <a:pt x="0" y="0"/>
                </a:moveTo>
                <a:lnTo>
                  <a:pt x="3178257" y="0"/>
                </a:lnTo>
                <a:lnTo>
                  <a:pt x="3178257" y="942457"/>
                </a:lnTo>
                <a:lnTo>
                  <a:pt x="0" y="942457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cd906ce508b14711"/>
            <a:stretch>
              <a:fillRect l="-637" t="-1274" r="-637" b="0"/>
            </a:stretch>
          </a:blipFill>
        </p:spPr>
      </p:sp>
      <p:sp>
        <p:nvSpPr>
          <p:cNvPr id="16" name="功能演示">
            <a:extLst xmlns:a="http://schemas.openxmlformats.org/drawingml/2006/main">
              <a:ext uri="{FF2B5EF4-FFF2-40B4-BE49-F238E27FC236}">
                <a16:creationId xmlns:a16="http://schemas.microsoft.com/office/drawing/2014/main" id="{6D86789E-852B-49DE-9A8C-FFDEC56DC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047750"/>
            <a:ext cx="1381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5100" b="1">
                <a:solidFill>
                  <a:srgbClr val="111111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5100" b="1">
                <a:solidFill>
                  <a:srgbClr val="111111"/>
                </a:solidFill>
                <a:latin typeface="思源黑体 2 Bold"/>
                <a:ea typeface="思源黑体 2 Bold"/>
                <a:cs typeface="思源黑体 2 Bold"/>
                <a:hlinkClick xmlns:r="http://schemas.openxmlformats.org/officeDocument/2006/relationships" r:id="R32def7217c01407d"/>
              </a:rPr>
              <a:t>AI 融合流程</a:t>
            </a:r>
            <a:endParaRPr sz="5100" b="1">
              <a:solidFill>
                <a:srgbClr val="111111"/>
              </a:solidFill>
              <a:latin typeface="思源黑体 2 Bold"/>
              <a:ea typeface="思源黑体 2 Bold"/>
              <a:cs typeface="思源黑体 2 Bold"/>
            </a:endParaRPr>
          </a:p>
        </p:txBody>
      </p:sp>
      <p:sp>
        <p:nvSpPr>
          <p:cNvPr id="17" name="03">
            <a:extLst xmlns:a="http://schemas.openxmlformats.org/drawingml/2006/main">
              <a:ext uri="{FF2B5EF4-FFF2-40B4-BE49-F238E27FC236}">
                <a16:creationId xmlns:a16="http://schemas.microsoft.com/office/drawing/2014/main" id="{6AFE3953-1C3B-4D75-B295-A856C11B9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0" y="9353550"/>
            <a:ext cx="857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875" b="0">
                <a:solidFill>
                  <a:srgbClr val="92969E"/>
                </a:solidFill>
                <a:latin typeface="思源黑体 2"/>
                <a:ea typeface="思源黑体 2"/>
                <a:cs typeface="思源黑体 2"/>
              </a:defRPr>
            </a:pPr>
            <a:r>
              <a:rPr sz="1875" b="0">
                <a:solidFill>
                  <a:srgbClr val="92969E"/>
                </a:solidFill>
                <a:latin typeface="思源黑体 2"/>
                <a:ea typeface="思源黑体 2"/>
                <a:cs typeface="思源黑体 2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077ECC-389D-48ED-AC24-BAA2D1CFF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524125"/>
            <a:ext cx="1485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34495E"/>
                </a:solidFill>
                <a:latin typeface="思源黑体 1"/>
                <a:ea typeface="思源黑体 1"/>
                <a:cs typeface="思源黑体 1"/>
              </a:defRPr>
            </a:pPr>
            <a:r>
              <a:rPr sz="2250" b="1">
                <a:solidFill>
                  <a:srgbClr val="34495E"/>
                </a:solidFill>
                <a:latin typeface="思源黑体 1"/>
                <a:ea typeface="思源黑体 1"/>
                <a:cs typeface="思源黑体 1"/>
              </a:rPr>
              <a:t>AI 负责扩展测试视角，人工负责确认业务契约与最终证据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53947F-A595-48F9-A1FD-66FA8279B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76750"/>
            <a:ext cx="30480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28575">
            <a:solidFill>
              <a:srgbClr val="4A89C9"/>
            </a:solidFill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4425E"/>
                </a:solidFill>
                <a:latin typeface="思源黑体 1"/>
                <a:ea typeface="思源黑体 1"/>
                <a:cs typeface="思源黑体 1"/>
              </a:defRPr>
            </a:pPr>
            <a:r>
              <a:rPr sz="1875" b="1">
                <a:solidFill>
                  <a:srgbClr val="24425E"/>
                </a:solidFill>
                <a:latin typeface="思源黑体 1"/>
                <a:ea typeface="思源黑体 1"/>
                <a:cs typeface="思源黑体 1"/>
              </a:rPr>
              <a:t>1 读取上下文</a:t>
            </a:r>
          </a:p>
          <a:p xmlns:a="http://schemas.openxmlformats.org/drawingml/2006/main">
            <a:pPr algn="ctr">
              <a:defRPr sz="1875" b="1">
                <a:solidFill>
                  <a:srgbClr val="24425E"/>
                </a:solidFill>
                <a:latin typeface="思源黑体 1"/>
                <a:ea typeface="思源黑体 1"/>
                <a:cs typeface="思源黑体 1"/>
              </a:defRPr>
            </a:pPr>
            <a:r>
              <a:rPr sz="1875" b="1">
                <a:solidFill>
                  <a:srgbClr val="24425E"/>
                </a:solidFill>
                <a:latin typeface="思源黑体 1"/>
                <a:ea typeface="思源黑体 1"/>
                <a:cs typeface="思源黑体 1"/>
              </a:rPr>
              <a:t>代码 + 模块一用例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CAE056-8D5D-422D-B63C-C3CE23154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5095875"/>
            <a:ext cx="552450" cy="495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A89C9"/>
          </a:solidFill>
          <a:ln xmlns:a="http://schemas.openxmlformats.org/drawingml/2006/main" w="9525">
            <a:solidFill>
              <a:srgbClr val="4A89C9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0D170E-D803-4CE2-9693-82BF2E52B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476750"/>
            <a:ext cx="30480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28575">
            <a:solidFill>
              <a:srgbClr val="4A89C9"/>
            </a:solidFill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4425E"/>
                </a:solidFill>
                <a:latin typeface="思源黑体 1"/>
                <a:ea typeface="思源黑体 1"/>
                <a:cs typeface="思源黑体 1"/>
              </a:defRPr>
            </a:pPr>
            <a:r>
              <a:rPr sz="1875" b="1">
                <a:solidFill>
                  <a:srgbClr val="24425E"/>
                </a:solidFill>
                <a:latin typeface="思源黑体 1"/>
                <a:ea typeface="思源黑体 1"/>
                <a:cs typeface="思源黑体 1"/>
              </a:rPr>
              <a:t>2 生成风险清单</a:t>
            </a:r>
          </a:p>
          <a:p xmlns:a="http://schemas.openxmlformats.org/drawingml/2006/main">
            <a:pPr algn="ctr">
              <a:defRPr sz="1875" b="1">
                <a:solidFill>
                  <a:srgbClr val="24425E"/>
                </a:solidFill>
                <a:latin typeface="思源黑体 1"/>
                <a:ea typeface="思源黑体 1"/>
                <a:cs typeface="思源黑体 1"/>
              </a:defRPr>
            </a:pPr>
            <a:r>
              <a:rPr sz="1875" b="1">
                <a:solidFill>
                  <a:srgbClr val="24425E"/>
                </a:solidFill>
                <a:latin typeface="思源黑体 1"/>
                <a:ea typeface="思源黑体 1"/>
                <a:cs typeface="思源黑体 1"/>
              </a:rPr>
              <a:t>输入 / 状态 / 接口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704A44-6425-4D47-AE37-EED78E29D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095875"/>
            <a:ext cx="552450" cy="495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A89C9"/>
          </a:solidFill>
          <a:ln xmlns:a="http://schemas.openxmlformats.org/drawingml/2006/main" w="9525">
            <a:solidFill>
              <a:srgbClr val="4A89C9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A56535-2FB9-49D5-9F15-52FA5C83F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476750"/>
            <a:ext cx="30480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28575">
            <a:solidFill>
              <a:srgbClr val="4A89C9"/>
            </a:solidFill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4425E"/>
                </a:solidFill>
                <a:latin typeface="思源黑体 1"/>
                <a:ea typeface="思源黑体 1"/>
                <a:cs typeface="思源黑体 1"/>
              </a:defRPr>
            </a:pPr>
            <a:r>
              <a:rPr sz="1875" b="1">
                <a:solidFill>
                  <a:srgbClr val="24425E"/>
                </a:solidFill>
                <a:latin typeface="思源黑体 1"/>
                <a:ea typeface="思源黑体 1"/>
                <a:cs typeface="思源黑体 1"/>
              </a:rPr>
              <a:t>3 人工审核</a:t>
            </a:r>
          </a:p>
          <a:p xmlns:a="http://schemas.openxmlformats.org/drawingml/2006/main">
            <a:pPr algn="ctr">
              <a:defRPr sz="1875" b="1">
                <a:solidFill>
                  <a:srgbClr val="24425E"/>
                </a:solidFill>
                <a:latin typeface="思源黑体 1"/>
                <a:ea typeface="思源黑体 1"/>
                <a:cs typeface="思源黑体 1"/>
              </a:defRPr>
            </a:pPr>
            <a:r>
              <a:rPr sz="1875" b="1">
                <a:solidFill>
                  <a:srgbClr val="24425E"/>
                </a:solidFill>
                <a:latin typeface="思源黑体 1"/>
                <a:ea typeface="思源黑体 1"/>
                <a:cs typeface="思源黑体 1"/>
              </a:rPr>
              <a:t>保留 20 条可执行用例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4FADD4-88D1-4652-98B1-B61A5E6B8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5375" y="5095875"/>
            <a:ext cx="552450" cy="495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A89C9"/>
          </a:solidFill>
          <a:ln xmlns:a="http://schemas.openxmlformats.org/drawingml/2006/main" w="9525">
            <a:solidFill>
              <a:srgbClr val="4A89C9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76BC42-B4F9-4659-96EA-33931290C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0" y="4476750"/>
            <a:ext cx="30480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28575">
            <a:solidFill>
              <a:srgbClr val="4A89C9"/>
            </a:solidFill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4425E"/>
                </a:solidFill>
                <a:latin typeface="思源黑体 1"/>
                <a:ea typeface="思源黑体 1"/>
                <a:cs typeface="思源黑体 1"/>
              </a:defRPr>
            </a:pPr>
            <a:r>
              <a:rPr sz="1875" b="1">
                <a:solidFill>
                  <a:srgbClr val="24425E"/>
                </a:solidFill>
                <a:latin typeface="思源黑体 1"/>
                <a:ea typeface="思源黑体 1"/>
                <a:cs typeface="思源黑体 1"/>
              </a:rPr>
              <a:t>4 运行与修复</a:t>
            </a:r>
          </a:p>
          <a:p xmlns:a="http://schemas.openxmlformats.org/drawingml/2006/main">
            <a:pPr algn="ctr">
              <a:defRPr sz="1875" b="1">
                <a:solidFill>
                  <a:srgbClr val="24425E"/>
                </a:solidFill>
                <a:latin typeface="思源黑体 1"/>
                <a:ea typeface="思源黑体 1"/>
                <a:cs typeface="思源黑体 1"/>
              </a:defRPr>
            </a:pPr>
            <a:r>
              <a:rPr sz="1875" b="1">
                <a:solidFill>
                  <a:srgbClr val="24425E"/>
                </a:solidFill>
                <a:latin typeface="思源黑体 1"/>
                <a:ea typeface="思源黑体 1"/>
                <a:cs typeface="思源黑体 1"/>
              </a:rPr>
              <a:t>定位缺陷并完整回归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E46D41-7374-4683-8A0A-53AF2E1B5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7143750"/>
            <a:ext cx="111442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A9B8C7"/>
            </a:solidFill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>
                <a:solidFill>
                  <a:srgbClr val="3E566D"/>
                </a:solidFill>
                <a:latin typeface="思源黑体 1"/>
                <a:ea typeface="思源黑体 1"/>
                <a:cs typeface="思源黑体 1"/>
              </a:defRPr>
            </a:pPr>
            <a:r>
              <a:rPr sz="1800">
                <a:solidFill>
                  <a:srgbClr val="3E566D"/>
                </a:solidFill>
                <a:latin typeface="思源黑体 1"/>
                <a:ea typeface="思源黑体 1"/>
                <a:cs typeface="思源黑体 1"/>
              </a:rPr>
              <a:t>留痕：AI 对话记录.md  ·  AI-201～AI-220  ·  D2-001  ·  53/53 回归通过</a:t>
            </a:r>
          </a:p>
        </p:txBody>
      </p:sp>
    </p:spTree>
    <p:extLst>
      <p:ext uri="{BB962C8B-B14F-4D97-AF65-F5344CB8AC3E}">
        <p14:creationId xmlns:p14="http://schemas.microsoft.com/office/powerpoint/2010/main" val="145337253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9A3D8F68-33DE-4F9A-A069-C7BDDB5AC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9610498">
            <a:off x="-145264" y="-787739"/>
            <a:ext cx="2962940" cy="2625905"/>
          </a:xfrm>
          <a:custGeom xmlns:a="http://schemas.openxmlformats.org/drawingml/2006/main">
            <a:rect l="l" t="t" r="r" b="b"/>
            <a:pathLst>
              <a:path w="2962940" h="2625905">
                <a:moveTo>
                  <a:pt x="0" y="0"/>
                </a:moveTo>
                <a:lnTo>
                  <a:pt x="2962940" y="0"/>
                </a:lnTo>
                <a:lnTo>
                  <a:pt x="2962940" y="2625905"/>
                </a:lnTo>
                <a:lnTo>
                  <a:pt x="0" y="262590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324d83c968804e78">
              <a:alphaModFix amt="46000"/>
              <a:extLst>
                <a:ext uri="{96DAC541-7B7A-43D3-8B79-37D633B846F1}">
                  <asvg:svgBlip xmlns:asvg="http://schemas.microsoft.com/office/drawing/2016/SVG/main" r:embed="R4632aefcd377485b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21F16FED-E14E-4711-B9EC-7C1090FDE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9967101">
            <a:off x="-840298" y="-451988"/>
            <a:ext cx="2792062" cy="2474465"/>
          </a:xfrm>
          <a:custGeom xmlns:a="http://schemas.openxmlformats.org/drawingml/2006/main">
            <a:rect l="l" t="t" r="r" b="b"/>
            <a:pathLst>
              <a:path w="2792062" h="2474465">
                <a:moveTo>
                  <a:pt x="0" y="0"/>
                </a:moveTo>
                <a:lnTo>
                  <a:pt x="2792062" y="0"/>
                </a:lnTo>
                <a:lnTo>
                  <a:pt x="2792062" y="2474465"/>
                </a:lnTo>
                <a:lnTo>
                  <a:pt x="0" y="247446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a702af1b0e4c47bd">
              <a:alphaModFix amt="31000"/>
              <a:extLst>
                <a:ext uri="{96DAC541-7B7A-43D3-8B79-37D633B846F1}">
                  <asvg:svgBlip xmlns:asvg="http://schemas.microsoft.com/office/drawing/2016/SVG/main" r:embed="R186a3e1e76924a9a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5" name="Freeform 15">
            <a:extLst xmlns:a="http://schemas.openxmlformats.org/drawingml/2006/main">
              <a:ext uri="{FF2B5EF4-FFF2-40B4-BE49-F238E27FC236}">
                <a16:creationId xmlns:a16="http://schemas.microsoft.com/office/drawing/2014/main" id="{17CED48D-A808-48DF-B4A6-1DC193A1C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0578" y="237690"/>
            <a:ext cx="3178258" cy="942458"/>
          </a:xfrm>
          <a:custGeom xmlns:a="http://schemas.openxmlformats.org/drawingml/2006/main">
            <a:rect l="l" t="t" r="r" b="b"/>
            <a:pathLst>
              <a:path w="3178258" h="942458">
                <a:moveTo>
                  <a:pt x="0" y="0"/>
                </a:moveTo>
                <a:lnTo>
                  <a:pt x="3178257" y="0"/>
                </a:lnTo>
                <a:lnTo>
                  <a:pt x="3178257" y="942457"/>
                </a:lnTo>
                <a:lnTo>
                  <a:pt x="0" y="942457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fc5b6ed7ddf34ebd"/>
            <a:stretch>
              <a:fillRect l="-637" t="-1274" r="-637" b="0"/>
            </a:stretch>
          </a:blipFill>
        </p:spPr>
      </p:sp>
      <p:sp>
        <p:nvSpPr>
          <p:cNvPr id="16" name="测试策略">
            <a:extLst xmlns:a="http://schemas.openxmlformats.org/drawingml/2006/main">
              <a:ext uri="{FF2B5EF4-FFF2-40B4-BE49-F238E27FC236}">
                <a16:creationId xmlns:a16="http://schemas.microsoft.com/office/drawing/2014/main" id="{3E614FE3-C679-49A1-A6B1-194B1E82A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047750"/>
            <a:ext cx="1381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5100" b="1">
                <a:solidFill>
                  <a:srgbClr val="111111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5100" b="1">
                <a:solidFill>
                  <a:srgbClr val="111111"/>
                </a:solidFill>
                <a:latin typeface="思源黑体 2 Bold"/>
                <a:ea typeface="思源黑体 2 Bold"/>
                <a:cs typeface="思源黑体 2 Bold"/>
              </a:rPr>
              <a:t>测试策略</a:t>
            </a:r>
          </a:p>
        </p:txBody>
      </p:sp>
      <p:sp>
        <p:nvSpPr>
          <p:cNvPr id="17" name="04">
            <a:extLst xmlns:a="http://schemas.openxmlformats.org/drawingml/2006/main">
              <a:ext uri="{FF2B5EF4-FFF2-40B4-BE49-F238E27FC236}">
                <a16:creationId xmlns:a16="http://schemas.microsoft.com/office/drawing/2014/main" id="{50B99795-CEE7-4382-923F-9E6AE8149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0" y="9353550"/>
            <a:ext cx="857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875" b="0">
                <a:solidFill>
                  <a:srgbClr val="92969E"/>
                </a:solidFill>
                <a:latin typeface="思源黑体 2"/>
                <a:ea typeface="思源黑体 2"/>
                <a:cs typeface="思源黑体 2"/>
              </a:defRPr>
            </a:pPr>
            <a:r>
              <a:rPr sz="1875" b="0">
                <a:solidFill>
                  <a:srgbClr val="92969E"/>
                </a:solidFill>
                <a:latin typeface="思源黑体 2"/>
                <a:ea typeface="思源黑体 2"/>
                <a:cs typeface="思源黑体 2"/>
              </a:rPr>
              <a:t>04</a:t>
            </a:r>
          </a:p>
        </p:txBody>
      </p:sp>
      <p:graphicFrame>
        <p:nvGraphicFramePr>
          <p:cNvPr id="31" name="表格 28"/>
          <p:cNvGraphicFramePr/>
          <p:nvPr/>
        </p:nvGraphicFramePr>
        <p:xfrm>
          <a:off xmlns:a="http://schemas.openxmlformats.org/drawingml/2006/main" x="1428750" y="2571750"/>
          <a:ext xmlns:a="http://schemas.openxmlformats.org/drawingml/2006/main" cx="1533525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381500"/>
                <a:gridCol w="6286500"/>
                <a:gridCol w="4667250"/>
              </a:tblGrid>
              <a:tr h="7143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2325" b="1">
                          <a:solidFill>
                            <a:srgbClr val="FFFFFF"/>
                          </a:solidFill>
                          <a:latin typeface="思源黑体 2 Bold"/>
                          <a:ea typeface="思源黑体 2 Bold"/>
                          <a:cs typeface="思源黑体 2 Bold"/>
                        </a:rPr>
                        <a:t>风险维度</a:t>
                      </a:r>
                    </a:p>
                  </a:txBody>
                  <a:tcPr marL="91440" marR="91440" marT="45720" marB="45720" anchor="ctr">
                    <a:solidFill>
                      <a:srgbClr val="44484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325" b="1">
                          <a:solidFill>
                            <a:srgbClr val="FFFFFF"/>
                          </a:solidFill>
                          <a:latin typeface="思源黑体 2 Bold"/>
                          <a:ea typeface="思源黑体 2 Bold"/>
                          <a:cs typeface="思源黑体 2 Bold"/>
                        </a:rPr>
                        <a:t>测试策略</a:t>
                      </a:r>
                    </a:p>
                  </a:txBody>
                  <a:tcPr marL="91440" marR="91440" marT="45720" marB="45720" anchor="ctr">
                    <a:solidFill>
                      <a:srgbClr val="44484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325" b="1">
                          <a:solidFill>
                            <a:srgbClr val="FFFFFF"/>
                          </a:solidFill>
                          <a:latin typeface="思源黑体 2 Bold"/>
                          <a:ea typeface="思源黑体 2 Bold"/>
                          <a:cs typeface="思源黑体 2 Bold"/>
                        </a:rPr>
                        <a:t>代表用例</a:t>
                      </a:r>
                    </a:p>
                  </a:txBody>
                  <a:tcPr marL="91440" marR="91440" marT="45720" marB="45720" anchor="ctr">
                    <a:solidFill>
                      <a:srgbClr val="44484C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2325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输入安全</a:t>
                      </a:r>
                    </a:p>
                  </a:txBody>
                  <a:tcPr marL="91440" marR="91440" marT="45720" marB="45720" anchor="ctr">
                    <a:solidFill>
                      <a:srgbClr val="E7E8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325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错误推测 + 安全性</a:t>
                      </a:r>
                    </a:p>
                  </a:txBody>
                  <a:tcPr marL="91440" marR="91440" marT="45720" marB="45720" anchor="ctr">
                    <a:solidFill>
                      <a:srgbClr val="E7E8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325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AI-201～AI-205</a:t>
                      </a:r>
                    </a:p>
                  </a:txBody>
                  <a:tcPr marL="91440" marR="91440" marT="45720" marB="45720" anchor="ctr">
                    <a:solidFill>
                      <a:srgbClr val="E7E8EA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2325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数值边界</a:t>
                      </a:r>
                    </a:p>
                  </a:txBody>
                  <a:tcPr marL="91440" marR="91440" marT="45720" marB="4572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325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边界值 + 等价类</a:t>
                      </a:r>
                    </a:p>
                  </a:txBody>
                  <a:tcPr marL="91440" marR="91440" marT="45720" marB="4572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325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AI-206～AI-215</a:t>
                      </a:r>
                    </a:p>
                  </a:txBody>
                  <a:tcPr marL="91440" marR="91440" marT="45720" marB="45720" anchor="ctr">
                    <a:solidFill>
                      <a:srgbClr val="F5F5F5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2325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状态与接口</a:t>
                      </a:r>
                    </a:p>
                  </a:txBody>
                  <a:tcPr marL="91440" marR="91440" marT="45720" marB="45720" anchor="ctr">
                    <a:solidFill>
                      <a:srgbClr val="E7E8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325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状态场景 + Mock</a:t>
                      </a:r>
                    </a:p>
                  </a:txBody>
                  <a:tcPr marL="91440" marR="91440" marT="45720" marB="45720" anchor="ctr">
                    <a:solidFill>
                      <a:srgbClr val="E7E8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325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AI-216～AI-220</a:t>
                      </a:r>
                    </a:p>
                  </a:txBody>
                  <a:tcPr marL="91440" marR="91440" marT="45720" marB="45720" anchor="ctr">
                    <a:solidFill>
                      <a:srgbClr val="E7E8EA"/>
                    </a:solidFill>
                  </a:tcPr>
                </a:tc>
              </a:tr>
            </a:tbl>
          </a:graphicData>
        </a:graphic>
      </p:graphicFrame>
      <p:sp>
        <p:nvSpPr>
          <p:cNvPr id="19" name="测试视角">
            <a:extLst xmlns:a="http://schemas.openxmlformats.org/drawingml/2006/main">
              <a:ext uri="{FF2B5EF4-FFF2-40B4-BE49-F238E27FC236}">
                <a16:creationId xmlns:a16="http://schemas.microsoft.com/office/drawing/2014/main" id="{A58450E7-501D-49F4-BBA4-2D94A047E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667375"/>
            <a:ext cx="685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700" b="1">
                <a:solidFill>
                  <a:srgbClr val="44484C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2700" b="1">
                <a:solidFill>
                  <a:srgbClr val="44484C"/>
                </a:solidFill>
                <a:latin typeface="思源黑体 2 Bold"/>
                <a:ea typeface="思源黑体 2 Bold"/>
                <a:cs typeface="思源黑体 2 Bold"/>
              </a:rPr>
              <a:t>20 条用例的方法分布</a:t>
            </a:r>
          </a:p>
        </p:txBody>
      </p:sp>
      <p:sp>
        <p:nvSpPr>
          <p:cNvPr id="20" name="用例设计技术与补充检查">
            <a:extLst xmlns:a="http://schemas.openxmlformats.org/drawingml/2006/main">
              <a:ext uri="{FF2B5EF4-FFF2-40B4-BE49-F238E27FC236}">
                <a16:creationId xmlns:a16="http://schemas.microsoft.com/office/drawing/2014/main" id="{403FF6D0-327B-49DD-BF1A-D8C84C645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667375"/>
            <a:ext cx="723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700" b="1">
                <a:solidFill>
                  <a:srgbClr val="44484C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2700" b="1">
                <a:solidFill>
                  <a:srgbClr val="44484C"/>
                </a:solidFill>
                <a:latin typeface="思源黑体 2 Bold"/>
                <a:ea typeface="思源黑体 2 Bold"/>
                <a:cs typeface="思源黑体 2 Bold"/>
              </a:rPr>
              <a:t>回归规模</a:t>
            </a:r>
            <a:endParaRPr sz="2700" b="1">
              <a:solidFill>
                <a:srgbClr val="44484C"/>
              </a:solidFill>
              <a:latin typeface="思源黑体 2 Bold"/>
              <a:ea typeface="思源黑体 2 Bold"/>
              <a:cs typeface="思源黑体 2 Bold"/>
            </a:endParaRP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1524000" y="6429375"/>
          <a:ext xmlns:a="http://schemas.openxmlformats.org/drawingml/2006/main" cx="6858000" cy="2476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090869a544d44e0"/>
          </a:graphicData>
        </a:graphic>
      </p:graphicFrame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9334500" y="6429375"/>
          <a:ext xmlns:a="http://schemas.openxmlformats.org/drawingml/2006/main" cx="742950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84b4c59cd5b4e65"/>
          </a:graphicData>
        </a:graphic>
      </p:graphicFrame>
    </p:spTree>
    <p:extLst>
      <p:ext uri="{BB962C8B-B14F-4D97-AF65-F5344CB8AC3E}">
        <p14:creationId xmlns:p14="http://schemas.microsoft.com/office/powerpoint/2010/main" val="145337253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9A3D8F68-33DE-4F9A-A069-C7BDDB5AC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9610498">
            <a:off x="-145264" y="-787739"/>
            <a:ext cx="2962940" cy="2625905"/>
          </a:xfrm>
          <a:custGeom xmlns:a="http://schemas.openxmlformats.org/drawingml/2006/main">
            <a:rect l="l" t="t" r="r" b="b"/>
            <a:pathLst>
              <a:path w="2962940" h="2625905">
                <a:moveTo>
                  <a:pt x="0" y="0"/>
                </a:moveTo>
                <a:lnTo>
                  <a:pt x="2962940" y="0"/>
                </a:lnTo>
                <a:lnTo>
                  <a:pt x="2962940" y="2625905"/>
                </a:lnTo>
                <a:lnTo>
                  <a:pt x="0" y="262590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c0adfebd421848b8">
              <a:alphaModFix amt="46000"/>
              <a:extLst>
                <a:ext uri="{96DAC541-7B7A-43D3-8B79-37D633B846F1}">
                  <asvg:svgBlip xmlns:asvg="http://schemas.microsoft.com/office/drawing/2016/SVG/main" r:embed="R0dd1d86fbae846c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21F16FED-E14E-4711-B9EC-7C1090FDE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9967101">
            <a:off x="-840298" y="-451988"/>
            <a:ext cx="2792062" cy="2474465"/>
          </a:xfrm>
          <a:custGeom xmlns:a="http://schemas.openxmlformats.org/drawingml/2006/main">
            <a:rect l="l" t="t" r="r" b="b"/>
            <a:pathLst>
              <a:path w="2792062" h="2474465">
                <a:moveTo>
                  <a:pt x="0" y="0"/>
                </a:moveTo>
                <a:lnTo>
                  <a:pt x="2792062" y="0"/>
                </a:lnTo>
                <a:lnTo>
                  <a:pt x="2792062" y="2474465"/>
                </a:lnTo>
                <a:lnTo>
                  <a:pt x="0" y="247446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19d76628b5d4bc5">
              <a:alphaModFix amt="31000"/>
              <a:extLst>
                <a:ext uri="{96DAC541-7B7A-43D3-8B79-37D633B846F1}">
                  <asvg:svgBlip xmlns:asvg="http://schemas.microsoft.com/office/drawing/2016/SVG/main" r:embed="Rc0bf4463fb84470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5" name="Freeform 15">
            <a:extLst xmlns:a="http://schemas.openxmlformats.org/drawingml/2006/main">
              <a:ext uri="{FF2B5EF4-FFF2-40B4-BE49-F238E27FC236}">
                <a16:creationId xmlns:a16="http://schemas.microsoft.com/office/drawing/2014/main" id="{17CED48D-A808-48DF-B4A6-1DC193A1C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0578" y="237690"/>
            <a:ext cx="3178258" cy="942458"/>
          </a:xfrm>
          <a:custGeom xmlns:a="http://schemas.openxmlformats.org/drawingml/2006/main">
            <a:rect l="l" t="t" r="r" b="b"/>
            <a:pathLst>
              <a:path w="3178258" h="942458">
                <a:moveTo>
                  <a:pt x="0" y="0"/>
                </a:moveTo>
                <a:lnTo>
                  <a:pt x="3178257" y="0"/>
                </a:lnTo>
                <a:lnTo>
                  <a:pt x="3178257" y="942457"/>
                </a:lnTo>
                <a:lnTo>
                  <a:pt x="0" y="942457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7d0dc310f3d74b86"/>
            <a:stretch>
              <a:fillRect l="-637" t="-1274" r="-637" b="0"/>
            </a:stretch>
          </a:blipFill>
        </p:spPr>
      </p:sp>
      <p:sp>
        <p:nvSpPr>
          <p:cNvPr id="16" name="自动化设计">
            <a:extLst xmlns:a="http://schemas.openxmlformats.org/drawingml/2006/main">
              <a:ext uri="{FF2B5EF4-FFF2-40B4-BE49-F238E27FC236}">
                <a16:creationId xmlns:a16="http://schemas.microsoft.com/office/drawing/2014/main" id="{69C0AE25-2084-4444-B372-3E893470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047750"/>
            <a:ext cx="1381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5100" b="1">
                <a:solidFill>
                  <a:srgbClr val="111111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5100" b="1">
                <a:solidFill>
                  <a:srgbClr val="111111"/>
                </a:solidFill>
                <a:latin typeface="思源黑体 2 Bold"/>
                <a:ea typeface="思源黑体 2 Bold"/>
                <a:cs typeface="思源黑体 2 Bold"/>
              </a:rPr>
              <a:t>AI 生成测试设计</a:t>
            </a:r>
          </a:p>
        </p:txBody>
      </p:sp>
      <p:sp>
        <p:nvSpPr>
          <p:cNvPr id="17" name="05">
            <a:extLst xmlns:a="http://schemas.openxmlformats.org/drawingml/2006/main">
              <a:ext uri="{FF2B5EF4-FFF2-40B4-BE49-F238E27FC236}">
                <a16:creationId xmlns:a16="http://schemas.microsoft.com/office/drawing/2014/main" id="{933C769E-8533-4517-82D6-03E7CF046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0" y="9353550"/>
            <a:ext cx="857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875" b="0">
                <a:solidFill>
                  <a:srgbClr val="92969E"/>
                </a:solidFill>
                <a:latin typeface="思源黑体 2"/>
                <a:ea typeface="思源黑体 2"/>
                <a:cs typeface="思源黑体 2"/>
              </a:defRPr>
            </a:pPr>
            <a:r>
              <a:rPr sz="1875" b="0">
                <a:solidFill>
                  <a:srgbClr val="92969E"/>
                </a:solidFill>
                <a:latin typeface="思源黑体 2"/>
                <a:ea typeface="思源黑体 2"/>
                <a:cs typeface="思源黑体 2"/>
              </a:rPr>
              <a:t>05</a:t>
            </a:r>
          </a:p>
        </p:txBody>
      </p:sp>
      <p:sp>
        <p:nvSpPr>
          <p:cNvPr id="18" name="把用例写成函数，让 pytest 批量执行并">
            <a:extLst xmlns:a="http://schemas.openxmlformats.org/drawingml/2006/main">
              <a:ext uri="{FF2B5EF4-FFF2-40B4-BE49-F238E27FC236}">
                <a16:creationId xmlns:a16="http://schemas.microsoft.com/office/drawing/2014/main" id="{A442D37E-B575-41C7-8730-C50E4092F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24125"/>
            <a:ext cx="15240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3600" b="1">
                <a:solidFill>
                  <a:srgbClr val="44484C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3600" b="1">
                <a:solidFill>
                  <a:srgbClr val="44484C"/>
                </a:solidFill>
                <a:latin typeface="思源黑体 2 Bold"/>
                <a:ea typeface="思源黑体 2 Bold"/>
                <a:cs typeface="思源黑体 2 Bold"/>
              </a:rPr>
              <a:t>AI 生成 20 条用例，人工复核预期后由 pytest 一键执行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5881DD31-6ACB-43B6-AA30-34271D031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95750"/>
            <a:ext cx="33337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4484C"/>
          </a:solidFill>
          <a:ln xmlns:a="http://schemas.openxmlformats.org/drawingml/2006/main" w="0">
            <a:noFill/>
          </a:ln>
        </p:spPr>
      </p:sp>
      <p:sp>
        <p:nvSpPr>
          <p:cNvPr id="20" name="用例函数">
            <a:extLst xmlns:a="http://schemas.openxmlformats.org/drawingml/2006/main">
              <a:ext uri="{FF2B5EF4-FFF2-40B4-BE49-F238E27FC236}">
                <a16:creationId xmlns:a16="http://schemas.microsoft.com/office/drawing/2014/main" id="{BD8A465B-9B23-4D11-AE10-45BBC25DB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095750"/>
            <a:ext cx="3143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3000" b="1">
                <a:solidFill>
                  <a:srgbClr val="FFFFFF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3000" b="1">
                <a:solidFill>
                  <a:srgbClr val="FFFFFF"/>
                </a:solidFill>
                <a:latin typeface="思源黑体 2 Bold"/>
                <a:ea typeface="思源黑体 2 Bold"/>
                <a:cs typeface="思源黑体 2 Bold"/>
              </a:rPr>
              <a:t>风险清单</a:t>
            </a:r>
          </a:p>
        </p:txBody>
      </p:sp>
      <p:sp>
        <p:nvSpPr>
          <p:cNvPr id="21" name="箭头: 右 20">
            <a:extLst xmlns:a="http://schemas.openxmlformats.org/drawingml/2006/main">
              <a:ext uri="{FF2B5EF4-FFF2-40B4-BE49-F238E27FC236}">
                <a16:creationId xmlns:a16="http://schemas.microsoft.com/office/drawing/2014/main" id="{69A36CC2-D9E6-4919-9FBF-364F7E31C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476750"/>
            <a:ext cx="238125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2969E"/>
          </a:solidFill>
          <a:ln xmlns:a="http://schemas.openxmlformats.org/drawingml/2006/main" w="0">
            <a:noFill/>
          </a:ln>
        </p:spPr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9F11B8F8-53B2-4485-96CB-EC0FEBB4A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095750"/>
            <a:ext cx="33337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4484C"/>
          </a:solidFill>
          <a:ln xmlns:a="http://schemas.openxmlformats.org/drawingml/2006/main" w="0">
            <a:noFill/>
          </a:ln>
        </p:spPr>
      </p:sp>
      <p:sp>
        <p:nvSpPr>
          <p:cNvPr id="23" name="自动执行">
            <a:extLst xmlns:a="http://schemas.openxmlformats.org/drawingml/2006/main">
              <a:ext uri="{FF2B5EF4-FFF2-40B4-BE49-F238E27FC236}">
                <a16:creationId xmlns:a16="http://schemas.microsoft.com/office/drawing/2014/main" id="{6447F852-1760-4EEF-9620-E1DC3194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095750"/>
            <a:ext cx="3143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3000" b="1">
                <a:solidFill>
                  <a:srgbClr val="FFFFFF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3000" b="1">
                <a:solidFill>
                  <a:srgbClr val="FFFFFF"/>
                </a:solidFill>
                <a:latin typeface="思源黑体 2 Bold"/>
                <a:ea typeface="思源黑体 2 Bold"/>
                <a:cs typeface="思源黑体 2 Bold"/>
              </a:rPr>
              <a:t>AI 生成用例</a:t>
            </a:r>
          </a:p>
        </p:txBody>
      </p:sp>
      <p:sp>
        <p:nvSpPr>
          <p:cNvPr id="24" name="箭头: 右 23">
            <a:extLst xmlns:a="http://schemas.openxmlformats.org/drawingml/2006/main">
              <a:ext uri="{FF2B5EF4-FFF2-40B4-BE49-F238E27FC236}">
                <a16:creationId xmlns:a16="http://schemas.microsoft.com/office/drawing/2014/main" id="{9830FAE2-54CC-4D1A-AD42-21582E33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4476750"/>
            <a:ext cx="238125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2969E"/>
          </a:solidFill>
          <a:ln xmlns:a="http://schemas.openxmlformats.org/drawingml/2006/main" w="0">
            <a:noFill/>
          </a:ln>
        </p:spPr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6AE792D1-5561-4923-A730-3C3201B20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095750"/>
            <a:ext cx="33337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4484C"/>
          </a:solidFill>
          <a:ln xmlns:a="http://schemas.openxmlformats.org/drawingml/2006/main" w="0">
            <a:noFill/>
          </a:ln>
        </p:spPr>
      </p:sp>
      <p:sp>
        <p:nvSpPr>
          <p:cNvPr id="26" name="自动判定">
            <a:extLst xmlns:a="http://schemas.openxmlformats.org/drawingml/2006/main">
              <a:ext uri="{FF2B5EF4-FFF2-40B4-BE49-F238E27FC236}">
                <a16:creationId xmlns:a16="http://schemas.microsoft.com/office/drawing/2014/main" id="{338493E9-D1A6-414F-ABFA-880C4990C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095750"/>
            <a:ext cx="3143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3000" b="1">
                <a:solidFill>
                  <a:srgbClr val="FFFFFF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3000" b="1">
                <a:solidFill>
                  <a:srgbClr val="FFFFFF"/>
                </a:solidFill>
                <a:latin typeface="思源黑体 2 Bold"/>
                <a:ea typeface="思源黑体 2 Bold"/>
                <a:cs typeface="思源黑体 2 Bold"/>
              </a:rPr>
              <a:t>人工审核</a:t>
            </a:r>
          </a:p>
        </p:txBody>
      </p:sp>
      <p:sp>
        <p:nvSpPr>
          <p:cNvPr id="27" name="箭头: 右 26">
            <a:extLst xmlns:a="http://schemas.openxmlformats.org/drawingml/2006/main">
              <a:ext uri="{FF2B5EF4-FFF2-40B4-BE49-F238E27FC236}">
                <a16:creationId xmlns:a16="http://schemas.microsoft.com/office/drawing/2014/main" id="{F5DB3982-405A-4FCE-A654-7C5FB0FDD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0175" y="4476750"/>
            <a:ext cx="238125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2969E"/>
          </a:solidFill>
          <a:ln xmlns:a="http://schemas.openxmlformats.org/drawingml/2006/main" w="0">
            <a:noFill/>
          </a:ln>
        </p:spPr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F57A0A44-9939-4084-8D2C-7CE1EE261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0" y="4095750"/>
            <a:ext cx="33337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4484C"/>
          </a:solidFill>
          <a:ln xmlns:a="http://schemas.openxmlformats.org/drawingml/2006/main" w="0">
            <a:noFill/>
          </a:ln>
        </p:spPr>
      </p:sp>
      <p:sp>
        <p:nvSpPr>
          <p:cNvPr id="29" name="回归复用">
            <a:extLst xmlns:a="http://schemas.openxmlformats.org/drawingml/2006/main">
              <a:ext uri="{FF2B5EF4-FFF2-40B4-BE49-F238E27FC236}">
                <a16:creationId xmlns:a16="http://schemas.microsoft.com/office/drawing/2014/main" id="{ACD4BFE6-6BAB-46B4-985D-0E89621B1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4095750"/>
            <a:ext cx="3143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3000" b="1">
                <a:solidFill>
                  <a:srgbClr val="FFFFFF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3000" b="1">
                <a:solidFill>
                  <a:srgbClr val="FFFFFF"/>
                </a:solidFill>
                <a:latin typeface="思源黑体 2 Bold"/>
                <a:ea typeface="思源黑体 2 Bold"/>
                <a:cs typeface="思源黑体 2 Bold"/>
              </a:rPr>
              <a:t>回归固化</a:t>
            </a:r>
          </a:p>
        </p:txBody>
      </p:sp>
      <p:sp>
        <p:nvSpPr>
          <p:cNvPr id="30" name="test_001～test_033&#10;编号对应">
            <a:extLst xmlns:a="http://schemas.openxmlformats.org/drawingml/2006/main">
              <a:ext uri="{FF2B5EF4-FFF2-40B4-BE49-F238E27FC236}">
                <a16:creationId xmlns:a16="http://schemas.microsoft.com/office/drawing/2014/main" id="{794B86E2-5090-43BB-AE09-C1D78AF87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381625"/>
            <a:ext cx="3619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400" b="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defRPr>
            </a:pPr>
            <a:r>
              <a:rPr sz="2400" b="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rPr>
              <a:t>输入、状态、接口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2400" b="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defRPr>
            </a:pPr>
            <a:r>
              <a:rPr sz="2400" b="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rPr>
              <a:t>四类风险结构化</a:t>
            </a:r>
          </a:p>
        </p:txBody>
      </p:sp>
      <p:sp>
        <p:nvSpPr>
          <p:cNvPr id="31" name="pytest 自动发现&#10;逐条调用被测函数">
            <a:extLst xmlns:a="http://schemas.openxmlformats.org/drawingml/2006/main">
              <a:ext uri="{FF2B5EF4-FFF2-40B4-BE49-F238E27FC236}">
                <a16:creationId xmlns:a16="http://schemas.microsoft.com/office/drawing/2014/main" id="{7CB8A57E-AB48-4200-A89E-3383FFB8D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381625"/>
            <a:ext cx="3619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400" b="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defRPr>
            </a:pPr>
            <a:r>
              <a:rPr sz="2400" b="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rPr>
              <a:t>AI-201～AI-220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2400" b="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defRPr>
            </a:pPr>
            <a:r>
              <a:rPr sz="2400" b="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rPr>
              <a:t>生成数据与 pytest</a:t>
            </a:r>
          </a:p>
        </p:txBody>
      </p:sp>
      <p:sp>
        <p:nvSpPr>
          <p:cNvPr id="32" name="assert 检查输出&#10;raises 检查异">
            <a:extLst xmlns:a="http://schemas.openxmlformats.org/drawingml/2006/main">
              <a:ext uri="{FF2B5EF4-FFF2-40B4-BE49-F238E27FC236}">
                <a16:creationId xmlns:a16="http://schemas.microsoft.com/office/drawing/2014/main" id="{67AF593B-811B-43A4-821C-11977E793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381625"/>
            <a:ext cx="3619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400" b="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defRPr>
            </a:pPr>
            <a:r>
              <a:rPr sz="2400" b="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rPr>
              <a:t>核对项目契约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2400" b="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defRPr>
            </a:pPr>
            <a:r>
              <a:rPr sz="2400" b="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rPr>
              <a:t>删除重复和脆弱断言</a:t>
            </a:r>
          </a:p>
        </p:txBody>
      </p:sp>
      <p:sp>
        <p:nvSpPr>
          <p:cNvPr id="33" name="修复后运行同一套用例&#10;报告失败编号与原因">
            <a:extLst xmlns:a="http://schemas.openxmlformats.org/drawingml/2006/main">
              <a:ext uri="{FF2B5EF4-FFF2-40B4-BE49-F238E27FC236}">
                <a16:creationId xmlns:a16="http://schemas.microsoft.com/office/drawing/2014/main" id="{8B09AFD5-3B6D-47A9-9E53-0EED5B2B7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0" y="5381625"/>
            <a:ext cx="3619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400" b="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defRPr>
            </a:pPr>
            <a:r>
              <a:rPr sz="2400" b="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rPr>
              <a:t>test_module2_ai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2400" b="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defRPr>
            </a:pPr>
            <a:r>
              <a:rPr sz="2400" b="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rPr>
              <a:t>与模块一一起回归</a:t>
            </a:r>
          </a:p>
        </p:txBody>
      </p:sp>
    </p:spTree>
    <p:extLst>
      <p:ext uri="{BB962C8B-B14F-4D97-AF65-F5344CB8AC3E}">
        <p14:creationId xmlns:p14="http://schemas.microsoft.com/office/powerpoint/2010/main" val="145337253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9A3D8F68-33DE-4F9A-A069-C7BDDB5AC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9610498">
            <a:off x="-145264" y="-787739"/>
            <a:ext cx="2962940" cy="2625905"/>
          </a:xfrm>
          <a:custGeom xmlns:a="http://schemas.openxmlformats.org/drawingml/2006/main">
            <a:rect l="l" t="t" r="r" b="b"/>
            <a:pathLst>
              <a:path w="2962940" h="2625905">
                <a:moveTo>
                  <a:pt x="0" y="0"/>
                </a:moveTo>
                <a:lnTo>
                  <a:pt x="2962940" y="0"/>
                </a:lnTo>
                <a:lnTo>
                  <a:pt x="2962940" y="2625905"/>
                </a:lnTo>
                <a:lnTo>
                  <a:pt x="0" y="262590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96fbf7383e94116">
              <a:alphaModFix amt="46000"/>
              <a:extLst>
                <a:ext uri="{96DAC541-7B7A-43D3-8B79-37D633B846F1}">
                  <asvg:svgBlip xmlns:asvg="http://schemas.microsoft.com/office/drawing/2016/SVG/main" r:embed="R40afa8bbb3d44b4d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21F16FED-E14E-4711-B9EC-7C1090FDE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9967101">
            <a:off x="-840298" y="-451988"/>
            <a:ext cx="2792062" cy="2474465"/>
          </a:xfrm>
          <a:custGeom xmlns:a="http://schemas.openxmlformats.org/drawingml/2006/main">
            <a:rect l="l" t="t" r="r" b="b"/>
            <a:pathLst>
              <a:path w="2792062" h="2474465">
                <a:moveTo>
                  <a:pt x="0" y="0"/>
                </a:moveTo>
                <a:lnTo>
                  <a:pt x="2792062" y="0"/>
                </a:lnTo>
                <a:lnTo>
                  <a:pt x="2792062" y="2474465"/>
                </a:lnTo>
                <a:lnTo>
                  <a:pt x="0" y="247446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472a4e1b07764003">
              <a:alphaModFix amt="31000"/>
              <a:extLst>
                <a:ext uri="{96DAC541-7B7A-43D3-8B79-37D633B846F1}">
                  <asvg:svgBlip xmlns:asvg="http://schemas.microsoft.com/office/drawing/2016/SVG/main" r:embed="Rd8b6b1bb5ae94cf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5" name="Freeform 15">
            <a:extLst xmlns:a="http://schemas.openxmlformats.org/drawingml/2006/main">
              <a:ext uri="{FF2B5EF4-FFF2-40B4-BE49-F238E27FC236}">
                <a16:creationId xmlns:a16="http://schemas.microsoft.com/office/drawing/2014/main" id="{17CED48D-A808-48DF-B4A6-1DC193A1C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0578" y="237690"/>
            <a:ext cx="3178258" cy="942458"/>
          </a:xfrm>
          <a:custGeom xmlns:a="http://schemas.openxmlformats.org/drawingml/2006/main">
            <a:rect l="l" t="t" r="r" b="b"/>
            <a:pathLst>
              <a:path w="3178258" h="942458">
                <a:moveTo>
                  <a:pt x="0" y="0"/>
                </a:moveTo>
                <a:lnTo>
                  <a:pt x="3178257" y="0"/>
                </a:lnTo>
                <a:lnTo>
                  <a:pt x="3178257" y="942457"/>
                </a:lnTo>
                <a:lnTo>
                  <a:pt x="0" y="942457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642ecf53431a4367"/>
            <a:stretch>
              <a:fillRect l="-637" t="-1274" r="-637" b="0"/>
            </a:stretch>
          </a:blipFill>
        </p:spPr>
      </p:sp>
      <p:sp>
        <p:nvSpPr>
          <p:cNvPr id="16" name="首轮结果">
            <a:extLst xmlns:a="http://schemas.openxmlformats.org/drawingml/2006/main">
              <a:ext uri="{FF2B5EF4-FFF2-40B4-BE49-F238E27FC236}">
                <a16:creationId xmlns:a16="http://schemas.microsoft.com/office/drawing/2014/main" id="{8A7B33D0-55B9-4BF1-A16F-BF26523F1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047750"/>
            <a:ext cx="1381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5100" b="1">
                <a:solidFill>
                  <a:srgbClr val="111111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5100" b="1">
                <a:solidFill>
                  <a:srgbClr val="111111"/>
                </a:solidFill>
                <a:latin typeface="思源黑体 2 Bold"/>
                <a:ea typeface="思源黑体 2 Bold"/>
                <a:cs typeface="思源黑体 2 Bold"/>
              </a:rPr>
              <a:t>首轮结果</a:t>
            </a:r>
          </a:p>
        </p:txBody>
      </p:sp>
      <p:sp>
        <p:nvSpPr>
          <p:cNvPr id="17" name="06">
            <a:extLst xmlns:a="http://schemas.openxmlformats.org/drawingml/2006/main">
              <a:ext uri="{FF2B5EF4-FFF2-40B4-BE49-F238E27FC236}">
                <a16:creationId xmlns:a16="http://schemas.microsoft.com/office/drawing/2014/main" id="{F0E366FA-CFE5-4CAD-9357-E6C248E82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0" y="9353550"/>
            <a:ext cx="857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875" b="0">
                <a:solidFill>
                  <a:srgbClr val="92969E"/>
                </a:solidFill>
                <a:latin typeface="思源黑体 2"/>
                <a:ea typeface="思源黑体 2"/>
                <a:cs typeface="思源黑体 2"/>
              </a:defRPr>
            </a:pPr>
            <a:r>
              <a:rPr sz="1875" b="0">
                <a:solidFill>
                  <a:srgbClr val="92969E"/>
                </a:solidFill>
                <a:latin typeface="思源黑体 2"/>
                <a:ea typeface="思源黑体 2"/>
                <a:cs typeface="思源黑体 2"/>
              </a:rPr>
              <a:t>06</a:t>
            </a:r>
          </a:p>
        </p:txBody>
      </p:sp>
      <p:graphicFrame>
        <p:nvGraphicFramePr>
          <p:cNvPr id="33" name="表格 26"/>
          <p:cNvGraphicFramePr/>
          <p:nvPr/>
        </p:nvGraphicFramePr>
        <p:xfrm>
          <a:off xmlns:a="http://schemas.openxmlformats.org/drawingml/2006/main" x="1428750" y="2619375"/>
          <a:ext xmlns:a="http://schemas.openxmlformats.org/drawingml/2006/main" cx="1095375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1524000"/>
                <a:gridCol w="1524000"/>
                <a:gridCol w="1524000"/>
                <a:gridCol w="3048000"/>
              </a:tblGrid>
              <a:tr h="7239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2325" b="1">
                          <a:solidFill>
                            <a:srgbClr val="FFFFFF"/>
                          </a:solidFill>
                          <a:latin typeface="思源黑体 2 Bold"/>
                          <a:ea typeface="思源黑体 2 Bold"/>
                          <a:cs typeface="思源黑体 2 Bold"/>
                        </a:rPr>
                        <a:t>测试批次</a:t>
                      </a:r>
                    </a:p>
                  </a:txBody>
                  <a:tcPr marL="91440" marR="91440" marT="45720" marB="45720" anchor="ctr">
                    <a:solidFill>
                      <a:srgbClr val="44484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325" b="1">
                          <a:solidFill>
                            <a:srgbClr val="FFFFFF"/>
                          </a:solidFill>
                          <a:latin typeface="思源黑体 2 Bold"/>
                          <a:ea typeface="思源黑体 2 Bold"/>
                          <a:cs typeface="思源黑体 2 Bold"/>
                        </a:rPr>
                        <a:t>用例</a:t>
                      </a:r>
                    </a:p>
                  </a:txBody>
                  <a:tcPr marL="91440" marR="91440" marT="45720" marB="45720" anchor="ctr">
                    <a:solidFill>
                      <a:srgbClr val="44484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325" b="1">
                          <a:solidFill>
                            <a:srgbClr val="FFFFFF"/>
                          </a:solidFill>
                          <a:latin typeface="思源黑体 2 Bold"/>
                          <a:ea typeface="思源黑体 2 Bold"/>
                          <a:cs typeface="思源黑体 2 Bold"/>
                        </a:rPr>
                        <a:t>通过</a:t>
                      </a:r>
                    </a:p>
                  </a:txBody>
                  <a:tcPr marL="91440" marR="91440" marT="45720" marB="45720" anchor="ctr">
                    <a:solidFill>
                      <a:srgbClr val="44484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325" b="1">
                          <a:solidFill>
                            <a:srgbClr val="FFFFFF"/>
                          </a:solidFill>
                          <a:latin typeface="思源黑体 2 Bold"/>
                          <a:ea typeface="思源黑体 2 Bold"/>
                          <a:cs typeface="思源黑体 2 Bold"/>
                        </a:rPr>
                        <a:t>失败</a:t>
                      </a:r>
                    </a:p>
                  </a:txBody>
                  <a:tcPr marL="91440" marR="91440" marT="45720" marB="45720" anchor="ctr">
                    <a:solidFill>
                      <a:srgbClr val="44484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325" b="1">
                          <a:solidFill>
                            <a:srgbClr val="FFFFFF"/>
                          </a:solidFill>
                          <a:latin typeface="思源黑体 2 Bold"/>
                          <a:ea typeface="思源黑体 2 Bold"/>
                          <a:cs typeface="思源黑体 2 Bold"/>
                        </a:rPr>
                        <a:t>通过率</a:t>
                      </a:r>
                    </a:p>
                  </a:txBody>
                  <a:tcPr marL="91440" marR="91440" marT="45720" marB="45720" anchor="ctr">
                    <a:solidFill>
                      <a:srgbClr val="44484C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2325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模块一回归</a:t>
                      </a:r>
                    </a:p>
                  </a:txBody>
                  <a:tcPr marL="91440" marR="91440" marT="45720" marB="45720" anchor="ctr">
                    <a:solidFill>
                      <a:srgbClr val="E7E8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325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33</a:t>
                      </a:r>
                    </a:p>
                  </a:txBody>
                  <a:tcPr marL="91440" marR="91440" marT="45720" marB="45720" anchor="ctr">
                    <a:solidFill>
                      <a:srgbClr val="E7E8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325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33</a:t>
                      </a:r>
                    </a:p>
                  </a:txBody>
                  <a:tcPr marL="91440" marR="91440" marT="45720" marB="45720" anchor="ctr">
                    <a:solidFill>
                      <a:srgbClr val="E7E8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325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E7E8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325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100%</a:t>
                      </a:r>
                    </a:p>
                  </a:txBody>
                  <a:tcPr marL="91440" marR="91440" marT="45720" marB="45720" anchor="ctr">
                    <a:solidFill>
                      <a:srgbClr val="E7E8EA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2325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模块二首轮</a:t>
                      </a:r>
                    </a:p>
                  </a:txBody>
                  <a:tcPr marL="91440" marR="91440" marT="45720" marB="4572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325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20</a:t>
                      </a:r>
                    </a:p>
                  </a:txBody>
                  <a:tcPr marL="91440" marR="91440" marT="45720" marB="4572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325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18</a:t>
                      </a:r>
                    </a:p>
                  </a:txBody>
                  <a:tcPr marL="91440" marR="91440" marT="45720" marB="4572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325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325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90%</a:t>
                      </a:r>
                    </a:p>
                  </a:txBody>
                  <a:tcPr marL="91440" marR="91440" marT="45720" marB="45720" anchor="ctr">
                    <a:solidFill>
                      <a:srgbClr val="F5F5F5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2325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模块二修复后</a:t>
                      </a:r>
                    </a:p>
                  </a:txBody>
                  <a:tcPr marL="91440" marR="91440" marT="45720" marB="45720" anchor="ctr">
                    <a:solidFill>
                      <a:srgbClr val="E7E8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325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20</a:t>
                      </a:r>
                    </a:p>
                  </a:txBody>
                  <a:tcPr marL="91440" marR="91440" marT="45720" marB="45720" anchor="ctr">
                    <a:solidFill>
                      <a:srgbClr val="E7E8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325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20</a:t>
                      </a:r>
                    </a:p>
                  </a:txBody>
                  <a:tcPr marL="91440" marR="91440" marT="45720" marB="45720" anchor="ctr">
                    <a:solidFill>
                      <a:srgbClr val="E7E8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325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E7E8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325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100%</a:t>
                      </a:r>
                    </a:p>
                  </a:txBody>
                  <a:tcPr marL="91440" marR="91440" marT="45720" marB="45720" anchor="ctr">
                    <a:solidFill>
                      <a:srgbClr val="E7E8EA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2325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最终完整回归</a:t>
                      </a:r>
                    </a:p>
                  </a:txBody>
                  <a:tcPr marL="91440" marR="91440" marT="45720" marB="4572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325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53</a:t>
                      </a:r>
                    </a:p>
                  </a:txBody>
                  <a:tcPr marL="91440" marR="91440" marT="45720" marB="4572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325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53</a:t>
                      </a:r>
                    </a:p>
                  </a:txBody>
                  <a:tcPr marL="91440" marR="91440" marT="45720" marB="4572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325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325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100%</a:t>
                      </a:r>
                    </a:p>
                  </a:txBody>
                  <a:tcPr marL="91440" marR="91440" marT="45720" marB="45720"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9" name="3 类缺陷">
            <a:extLst xmlns:a="http://schemas.openxmlformats.org/drawingml/2006/main">
              <a:ext uri="{FF2B5EF4-FFF2-40B4-BE49-F238E27FC236}">
                <a16:creationId xmlns:a16="http://schemas.microsoft.com/office/drawing/2014/main" id="{882030D5-8746-496C-ACD4-7670197B3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257175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3000" b="1">
                <a:solidFill>
                  <a:srgbClr val="44484C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3000" b="1">
                <a:solidFill>
                  <a:srgbClr val="44484C"/>
                </a:solidFill>
                <a:latin typeface="思源黑体 2 Bold"/>
                <a:ea typeface="思源黑体 2 Bold"/>
                <a:cs typeface="思源黑体 2 Bold"/>
              </a:rPr>
              <a:t>1 个有效缺陷</a:t>
            </a:r>
          </a:p>
        </p:txBody>
      </p:sp>
      <p:graphicFrame>
        <p:nvGraphicFramePr>
          <p:cNvPr id="35" name="表格 29"/>
          <p:cNvGraphicFramePr/>
          <p:nvPr/>
        </p:nvGraphicFramePr>
        <p:xfrm>
          <a:off xmlns:a="http://schemas.openxmlformats.org/drawingml/2006/main" x="1428750" y="6953250"/>
          <a:ext xmlns:a="http://schemas.openxmlformats.org/drawingml/2006/main" cx="15335250" cy="2428876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3429000"/>
                <a:gridCol w="9048750"/>
              </a:tblGrid>
              <a:tr h="60721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2250" b="1">
                          <a:solidFill>
                            <a:srgbClr val="FFFFFF"/>
                          </a:solidFill>
                          <a:latin typeface="思源黑体 2 Bold"/>
                          <a:ea typeface="思源黑体 2 Bold"/>
                          <a:cs typeface="思源黑体 2 Bold"/>
                        </a:rPr>
                        <a:t>缺陷</a:t>
                      </a:r>
                    </a:p>
                  </a:txBody>
                  <a:tcPr marL="91440" marR="91440" marT="45720" marB="45720" anchor="ctr">
                    <a:solidFill>
                      <a:srgbClr val="44484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250" b="1">
                          <a:solidFill>
                            <a:srgbClr val="FFFFFF"/>
                          </a:solidFill>
                          <a:latin typeface="思源黑体 2 Bold"/>
                          <a:ea typeface="思源黑体 2 Bold"/>
                          <a:cs typeface="思源黑体 2 Bold"/>
                        </a:rPr>
                        <a:t>失败用例</a:t>
                      </a:r>
                    </a:p>
                  </a:txBody>
                  <a:tcPr marL="91440" marR="91440" marT="45720" marB="45720" anchor="ctr">
                    <a:solidFill>
                      <a:srgbClr val="44484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250" b="1">
                          <a:solidFill>
                            <a:srgbClr val="FFFFFF"/>
                          </a:solidFill>
                          <a:latin typeface="思源黑体 2 Bold"/>
                          <a:ea typeface="思源黑体 2 Bold"/>
                          <a:cs typeface="思源黑体 2 Bold"/>
                        </a:rPr>
                        <a:t>暴露的问题</a:t>
                      </a:r>
                    </a:p>
                  </a:txBody>
                  <a:tcPr marL="91440" marR="91440" marT="45720" marB="45720" anchor="ctr">
                    <a:solidFill>
                      <a:srgbClr val="44484C"/>
                    </a:solidFill>
                  </a:tcPr>
                </a:tc>
              </a:tr>
              <a:tr h="60721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2250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D2-001</a:t>
                      </a:r>
                    </a:p>
                  </a:txBody>
                  <a:tcPr marL="91440" marR="91440" marT="45720" marB="45720" anchor="ctr">
                    <a:solidFill>
                      <a:srgbClr val="E7E8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250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AI-218</a:t>
                      </a:r>
                    </a:p>
                  </a:txBody>
                  <a:tcPr marL="91440" marR="91440" marT="45720" marB="45720" anchor="ctr">
                    <a:solidFill>
                      <a:srgbClr val="E7E8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250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预测变化仍命中旧缓存</a:t>
                      </a:r>
                      <a:endParaRPr sz="2250" b="0">
                        <a:solidFill>
                          <a:srgbClr val="44484C"/>
                        </a:solidFill>
                        <a:latin typeface="思源黑体 2"/>
                        <a:ea typeface="思源黑体 2"/>
                        <a:cs typeface="思源黑体 2"/>
                      </a:endParaRPr>
                    </a:p>
                  </a:txBody>
                  <a:tcPr marL="91440" marR="91440" marT="45720" marB="45720" anchor="ctr">
                    <a:solidFill>
                      <a:srgbClr val="E7E8EA"/>
                    </a:solidFill>
                  </a:tcPr>
                </a:tc>
              </a:tr>
              <a:tr h="60721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2250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D2-001</a:t>
                      </a:r>
                    </a:p>
                  </a:txBody>
                  <a:tcPr marL="91440" marR="91440" marT="45720" marB="4572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250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AI-219</a:t>
                      </a:r>
                    </a:p>
                  </a:txBody>
                  <a:tcPr marL="91440" marR="91440" marT="45720" marB="4572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250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遗留文件进入本轮汇总</a:t>
                      </a:r>
                      <a:endParaRPr sz="2250" b="0">
                        <a:solidFill>
                          <a:srgbClr val="44484C"/>
                        </a:solidFill>
                        <a:latin typeface="思源黑体 2"/>
                        <a:ea typeface="思源黑体 2"/>
                        <a:cs typeface="思源黑体 2"/>
                      </a:endParaRPr>
                    </a:p>
                  </a:txBody>
                  <a:tcPr marL="91440" marR="91440" marT="45720" marB="45720" anchor="ctr">
                    <a:solidFill>
                      <a:srgbClr val="F5F5F5"/>
                    </a:solidFill>
                  </a:tcPr>
                </a:tc>
              </a:tr>
              <a:tr h="60721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2250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状态</a:t>
                      </a:r>
                    </a:p>
                  </a:txBody>
                  <a:tcPr marL="91440" marR="91440" marT="45720" marB="45720" anchor="ctr">
                    <a:solidFill>
                      <a:srgbClr val="E7E8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250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修复后</a:t>
                      </a:r>
                    </a:p>
                  </a:txBody>
                  <a:tcPr marL="91440" marR="91440" marT="45720" marB="45720" anchor="ctr">
                    <a:solidFill>
                      <a:srgbClr val="E7E8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250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53 / 53 通过</a:t>
                      </a:r>
                      <a:endParaRPr sz="2250" b="0">
                        <a:solidFill>
                          <a:srgbClr val="44484C"/>
                        </a:solidFill>
                        <a:latin typeface="思源黑体 2"/>
                        <a:ea typeface="思源黑体 2"/>
                        <a:cs typeface="思源黑体 2"/>
                      </a:endParaRPr>
                    </a:p>
                  </a:txBody>
                  <a:tcPr marL="91440" marR="91440" marT="45720" marB="45720" anchor="ctr">
                    <a:solidFill>
                      <a:srgbClr val="E7E8EA"/>
                    </a:solidFill>
                  </a:tcPr>
                </a:tc>
              </a:tr>
            </a:tbl>
          </a:graphicData>
        </a:graphic>
      </p:graphicFrame>
      <p:sp>
        <p:nvSpPr>
          <p:cNvPr id="23" name="统计采用完善用例 007 后的首次完整测试结">
            <a:extLst xmlns:a="http://schemas.openxmlformats.org/drawingml/2006/main">
              <a:ext uri="{FF2B5EF4-FFF2-40B4-BE49-F238E27FC236}">
                <a16:creationId xmlns:a16="http://schemas.microsoft.com/office/drawing/2014/main" id="{7F1C4521-2D95-4C8B-9EA0-3A3ADBDB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6353175"/>
            <a:ext cx="1514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875" b="0">
                <a:solidFill>
                  <a:srgbClr val="92969E"/>
                </a:solidFill>
                <a:latin typeface="思源黑体 2"/>
                <a:ea typeface="思源黑体 2"/>
                <a:cs typeface="思源黑体 2"/>
              </a:defRPr>
            </a:pPr>
            <a:r>
              <a:rPr sz="1875" b="0">
                <a:solidFill>
                  <a:srgbClr val="92969E"/>
                </a:solidFill>
                <a:latin typeface="思源黑体 2"/>
                <a:ea typeface="思源黑体 2"/>
                <a:cs typeface="思源黑体 2"/>
              </a:rPr>
              <a:t>AI-218 / AI-219 的两轮执行场景暴露缓存污染</a:t>
            </a:r>
          </a:p>
        </p:txBody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12573000" y="3333750"/>
          <a:ext xmlns:a="http://schemas.openxmlformats.org/drawingml/2006/main" cx="457200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c8e09b807fd4ad6"/>
          </a:graphicData>
        </a:graphic>
      </p:graphicFrame>
    </p:spTree>
    <p:extLst>
      <p:ext uri="{BB962C8B-B14F-4D97-AF65-F5344CB8AC3E}">
        <p14:creationId xmlns:p14="http://schemas.microsoft.com/office/powerpoint/2010/main" val="145337253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9A3D8F68-33DE-4F9A-A069-C7BDDB5AC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9610498">
            <a:off x="-145264" y="-787739"/>
            <a:ext cx="2962940" cy="2625905"/>
          </a:xfrm>
          <a:custGeom xmlns:a="http://schemas.openxmlformats.org/drawingml/2006/main">
            <a:rect l="l" t="t" r="r" b="b"/>
            <a:pathLst>
              <a:path w="2962940" h="2625905">
                <a:moveTo>
                  <a:pt x="0" y="0"/>
                </a:moveTo>
                <a:lnTo>
                  <a:pt x="2962940" y="0"/>
                </a:lnTo>
                <a:lnTo>
                  <a:pt x="2962940" y="2625905"/>
                </a:lnTo>
                <a:lnTo>
                  <a:pt x="0" y="262590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db4b6d7e79834a86">
              <a:alphaModFix amt="46000"/>
              <a:extLst>
                <a:ext uri="{96DAC541-7B7A-43D3-8B79-37D633B846F1}">
                  <asvg:svgBlip xmlns:asvg="http://schemas.microsoft.com/office/drawing/2016/SVG/main" r:embed="R8d4ad7f35b5d45c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21F16FED-E14E-4711-B9EC-7C1090FDE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9967101">
            <a:off x="-840298" y="-451988"/>
            <a:ext cx="2792062" cy="2474465"/>
          </a:xfrm>
          <a:custGeom xmlns:a="http://schemas.openxmlformats.org/drawingml/2006/main">
            <a:rect l="l" t="t" r="r" b="b"/>
            <a:pathLst>
              <a:path w="2792062" h="2474465">
                <a:moveTo>
                  <a:pt x="0" y="0"/>
                </a:moveTo>
                <a:lnTo>
                  <a:pt x="2792062" y="0"/>
                </a:lnTo>
                <a:lnTo>
                  <a:pt x="2792062" y="2474465"/>
                </a:lnTo>
                <a:lnTo>
                  <a:pt x="0" y="247446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d1f544ca9e494361">
              <a:alphaModFix amt="31000"/>
              <a:extLst>
                <a:ext uri="{96DAC541-7B7A-43D3-8B79-37D633B846F1}">
                  <asvg:svgBlip xmlns:asvg="http://schemas.microsoft.com/office/drawing/2016/SVG/main" r:embed="Rf8dd2ce7a01d4fe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5" name="Freeform 15">
            <a:extLst xmlns:a="http://schemas.openxmlformats.org/drawingml/2006/main">
              <a:ext uri="{FF2B5EF4-FFF2-40B4-BE49-F238E27FC236}">
                <a16:creationId xmlns:a16="http://schemas.microsoft.com/office/drawing/2014/main" id="{17CED48D-A808-48DF-B4A6-1DC193A1C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0578" y="237690"/>
            <a:ext cx="3178258" cy="942458"/>
          </a:xfrm>
          <a:custGeom xmlns:a="http://schemas.openxmlformats.org/drawingml/2006/main">
            <a:rect l="l" t="t" r="r" b="b"/>
            <a:pathLst>
              <a:path w="3178258" h="942458">
                <a:moveTo>
                  <a:pt x="0" y="0"/>
                </a:moveTo>
                <a:lnTo>
                  <a:pt x="3178257" y="0"/>
                </a:lnTo>
                <a:lnTo>
                  <a:pt x="3178257" y="942457"/>
                </a:lnTo>
                <a:lnTo>
                  <a:pt x="0" y="942457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c4cd07397a1346c1"/>
            <a:stretch>
              <a:fillRect l="-637" t="-1274" r="-637" b="0"/>
            </a:stretch>
          </a:blipFill>
        </p:spPr>
      </p:sp>
      <p:sp>
        <p:nvSpPr>
          <p:cNvPr id="16" name="典型缺陷">
            <a:extLst xmlns:a="http://schemas.openxmlformats.org/drawingml/2006/main">
              <a:ext uri="{FF2B5EF4-FFF2-40B4-BE49-F238E27FC236}">
                <a16:creationId xmlns:a16="http://schemas.microsoft.com/office/drawing/2014/main" id="{E951427F-52D7-42CF-B74A-FD865EB6D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047750"/>
            <a:ext cx="1381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5100" b="1">
                <a:solidFill>
                  <a:srgbClr val="111111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5100" b="1">
                <a:solidFill>
                  <a:srgbClr val="111111"/>
                </a:solidFill>
                <a:latin typeface="思源黑体 2 Bold"/>
                <a:ea typeface="思源黑体 2 Bold"/>
                <a:cs typeface="思源黑体 2 Bold"/>
              </a:rPr>
              <a:t>典型缺陷</a:t>
            </a:r>
          </a:p>
        </p:txBody>
      </p:sp>
      <p:sp>
        <p:nvSpPr>
          <p:cNvPr id="17" name="07">
            <a:extLst xmlns:a="http://schemas.openxmlformats.org/drawingml/2006/main">
              <a:ext uri="{FF2B5EF4-FFF2-40B4-BE49-F238E27FC236}">
                <a16:creationId xmlns:a16="http://schemas.microsoft.com/office/drawing/2014/main" id="{80064ABC-3781-42AD-9FB6-B1089DE1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0" y="9353550"/>
            <a:ext cx="857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875" b="0">
                <a:solidFill>
                  <a:srgbClr val="92969E"/>
                </a:solidFill>
                <a:latin typeface="思源黑体 2"/>
                <a:ea typeface="思源黑体 2"/>
                <a:cs typeface="思源黑体 2"/>
              </a:defRPr>
            </a:pPr>
            <a:r>
              <a:rPr sz="1875" b="0">
                <a:solidFill>
                  <a:srgbClr val="92969E"/>
                </a:solidFill>
                <a:latin typeface="思源黑体 2"/>
                <a:ea typeface="思源黑体 2"/>
                <a:cs typeface="思源黑体 2"/>
              </a:rPr>
              <a:t>07</a:t>
            </a:r>
          </a:p>
        </p:txBody>
      </p:sp>
      <p:sp>
        <p:nvSpPr>
          <p:cNvPr id="18" name="D-001：缺字段，仍先打开视频">
            <a:extLst xmlns:a="http://schemas.openxmlformats.org/drawingml/2006/main">
              <a:ext uri="{FF2B5EF4-FFF2-40B4-BE49-F238E27FC236}">
                <a16:creationId xmlns:a16="http://schemas.microsoft.com/office/drawing/2014/main" id="{843B3B50-973B-4391-9E68-B1E9400AA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76500"/>
            <a:ext cx="15144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3675" b="1">
                <a:solidFill>
                  <a:srgbClr val="44484C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3675" b="1">
                <a:solidFill>
                  <a:srgbClr val="44484C"/>
                </a:solidFill>
                <a:latin typeface="思源黑体 2 Bold"/>
                <a:ea typeface="思源黑体 2 Bold"/>
                <a:cs typeface="思源黑体 2 Bold"/>
              </a:rPr>
              <a:t>D2-001：旧评分缓存污染新一轮评估</a:t>
            </a:r>
            <a:endParaRPr sz="3675" b="1">
              <a:solidFill>
                <a:srgbClr val="44484C"/>
              </a:solidFill>
              <a:latin typeface="思源黑体 2 Bold"/>
              <a:ea typeface="思源黑体 2 Bold"/>
              <a:cs typeface="思源黑体 2 Bold"/>
            </a:endParaRPr>
          </a:p>
        </p:txBody>
      </p:sp>
      <p:sp>
        <p:nvSpPr>
          <p:cNvPr id="19" name="测试目标：缺少 question_id 时，">
            <a:extLst xmlns:a="http://schemas.openxmlformats.org/drawingml/2006/main">
              <a:ext uri="{FF2B5EF4-FFF2-40B4-BE49-F238E27FC236}">
                <a16:creationId xmlns:a16="http://schemas.microsoft.com/office/drawing/2014/main" id="{7E93F706-6192-42A2-AAF5-E2317CAA0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476625"/>
            <a:ext cx="15240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850" b="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defRPr>
            </a:pPr>
            <a:r>
              <a:rPr sz="2850" b="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rPr>
              <a:t>测试目标：预测或问题变化时必须重新评分，遗留缓存不能进入本轮指标</a:t>
            </a:r>
            <a:endParaRPr sz="2850" b="0">
              <a:solidFill>
                <a:srgbClr val="44484C"/>
              </a:solidFill>
              <a:latin typeface="思源黑体 2"/>
              <a:ea typeface="思源黑体 2"/>
              <a:cs typeface="思源黑体 2"/>
            </a:endParaRPr>
          </a:p>
        </p:txBody>
      </p:sp>
      <p:sp>
        <p:nvSpPr>
          <p:cNvPr id="20" name="预期顺序">
            <a:extLst xmlns:a="http://schemas.openxmlformats.org/drawingml/2006/main">
              <a:ext uri="{FF2B5EF4-FFF2-40B4-BE49-F238E27FC236}">
                <a16:creationId xmlns:a16="http://schemas.microsoft.com/office/drawing/2014/main" id="{45E79FB8-EBA2-4908-B89D-D7E4189F4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865556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700" b="1">
                <a:solidFill>
                  <a:srgbClr val="00558A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2700" b="1">
                <a:solidFill>
                  <a:srgbClr val="00558A"/>
                </a:solidFill>
                <a:latin typeface="思源黑体 2 Bold"/>
                <a:ea typeface="思源黑体 2 Bold"/>
                <a:cs typeface="思源黑体 2 Bold"/>
              </a:rPr>
              <a:t>修复后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3D1FA512-FE42-4F62-AE15-FF24FEF4A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70306"/>
            <a:ext cx="37147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DEE"/>
          </a:solidFill>
          <a:ln xmlns:a="http://schemas.openxmlformats.org/drawingml/2006/main" w="0">
            <a:noFill/>
          </a:ln>
        </p:spPr>
      </p:sp>
      <p:sp>
        <p:nvSpPr>
          <p:cNvPr id="22" name="检查必要字段">
            <a:extLst xmlns:a="http://schemas.openxmlformats.org/drawingml/2006/main">
              <a:ext uri="{FF2B5EF4-FFF2-40B4-BE49-F238E27FC236}">
                <a16:creationId xmlns:a16="http://schemas.microsoft.com/office/drawing/2014/main" id="{DEC3841D-248F-416B-B311-D3B627D05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770306"/>
            <a:ext cx="3524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3000" b="1">
                <a:solidFill>
                  <a:srgbClr val="44484C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3000" b="1">
                <a:solidFill>
                  <a:srgbClr val="44484C"/>
                </a:solidFill>
                <a:latin typeface="思源黑体 2 Bold"/>
                <a:ea typeface="思源黑体 2 Bold"/>
                <a:cs typeface="思源黑体 2 Bold"/>
              </a:rPr>
              <a:t>比较完整 qa_set</a:t>
            </a:r>
          </a:p>
        </p:txBody>
      </p:sp>
      <p:sp>
        <p:nvSpPr>
          <p:cNvPr id="23" name="箭头: 右 22">
            <a:extLst xmlns:a="http://schemas.openxmlformats.org/drawingml/2006/main">
              <a:ext uri="{FF2B5EF4-FFF2-40B4-BE49-F238E27FC236}">
                <a16:creationId xmlns:a16="http://schemas.microsoft.com/office/drawing/2014/main" id="{4626836D-5F67-4FBE-BB2C-B53335B5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151306"/>
            <a:ext cx="7620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2969E"/>
          </a:solidFill>
          <a:ln xmlns:a="http://schemas.openxmlformats.org/drawingml/2006/main" w="0">
            <a:noFill/>
          </a:ln>
        </p:spPr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CF2F947A-F8B8-4A88-8DBF-3AF30329F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770306"/>
            <a:ext cx="3905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DEE"/>
          </a:solidFill>
          <a:ln xmlns:a="http://schemas.openxmlformats.org/drawingml/2006/main" w="0">
            <a:noFill/>
          </a:ln>
        </p:spPr>
      </p:sp>
      <p:sp>
        <p:nvSpPr>
          <p:cNvPr id="25" name="缺失即报错">
            <a:extLst xmlns:a="http://schemas.openxmlformats.org/drawingml/2006/main">
              <a:ext uri="{FF2B5EF4-FFF2-40B4-BE49-F238E27FC236}">
                <a16:creationId xmlns:a16="http://schemas.microsoft.com/office/drawing/2014/main" id="{7745973F-3EE9-4266-A81F-87011A1FF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770306"/>
            <a:ext cx="3714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3000" b="1">
                <a:solidFill>
                  <a:srgbClr val="44484C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3000" b="1">
                <a:solidFill>
                  <a:srgbClr val="44484C"/>
                </a:solidFill>
                <a:latin typeface="思源黑体 2 Bold"/>
                <a:ea typeface="思源黑体 2 Bold"/>
                <a:cs typeface="思源黑体 2 Bold"/>
              </a:rPr>
              <a:t>变化即重新评分</a:t>
            </a:r>
          </a:p>
        </p:txBody>
      </p:sp>
      <p:sp>
        <p:nvSpPr>
          <p:cNvPr id="27" name="原有顺序">
            <a:extLst xmlns:a="http://schemas.openxmlformats.org/drawingml/2006/main">
              <a:ext uri="{FF2B5EF4-FFF2-40B4-BE49-F238E27FC236}">
                <a16:creationId xmlns:a16="http://schemas.microsoft.com/office/drawing/2014/main" id="{11548B48-3456-47FA-85C7-6AA4D949E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7128772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700" b="1">
                <a:solidFill>
                  <a:srgbClr val="44484C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2700" b="1">
                <a:solidFill>
                  <a:srgbClr val="44484C"/>
                </a:solidFill>
                <a:latin typeface="思源黑体 2 Bold"/>
                <a:ea typeface="思源黑体 2 Bold"/>
                <a:cs typeface="思源黑体 2 Bold"/>
              </a:rPr>
              <a:t>旧实现</a:t>
            </a:r>
            <a:endParaRPr sz="2700" b="1">
              <a:solidFill>
                <a:srgbClr val="44484C"/>
              </a:solidFill>
              <a:latin typeface="思源黑体 2 Bold"/>
              <a:ea typeface="思源黑体 2 Bold"/>
              <a:cs typeface="思源黑体 2 Bold"/>
            </a:endParaRP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48196E62-B776-46BA-A522-BDE2E0DAF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962085"/>
            <a:ext cx="29527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4484C"/>
          </a:solidFill>
          <a:ln xmlns:a="http://schemas.openxmlformats.org/drawingml/2006/main" w="0">
            <a:noFill/>
          </a:ln>
        </p:spPr>
      </p:sp>
      <p:sp>
        <p:nvSpPr>
          <p:cNvPr id="29" name="打开视频">
            <a:extLst xmlns:a="http://schemas.openxmlformats.org/drawingml/2006/main">
              <a:ext uri="{FF2B5EF4-FFF2-40B4-BE49-F238E27FC236}">
                <a16:creationId xmlns:a16="http://schemas.microsoft.com/office/drawing/2014/main" id="{B441857C-4DB3-4A34-8B49-106CA2EF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6962085"/>
            <a:ext cx="2762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3000" b="1">
                <a:solidFill>
                  <a:srgbClr val="FFFFFF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3000" b="1">
                <a:solidFill>
                  <a:srgbClr val="FFFFFF"/>
                </a:solidFill>
                <a:latin typeface="思源黑体 2 Bold"/>
                <a:ea typeface="思源黑体 2 Bold"/>
                <a:cs typeface="思源黑体 2 Bold"/>
              </a:rPr>
              <a:t>发现结果文件</a:t>
            </a:r>
          </a:p>
        </p:txBody>
      </p:sp>
      <p:sp>
        <p:nvSpPr>
          <p:cNvPr id="30" name="箭头: 右 29">
            <a:extLst xmlns:a="http://schemas.openxmlformats.org/drawingml/2006/main">
              <a:ext uri="{FF2B5EF4-FFF2-40B4-BE49-F238E27FC236}">
                <a16:creationId xmlns:a16="http://schemas.microsoft.com/office/drawing/2014/main" id="{20ACBE4B-5E61-4C28-8CF3-8FEE2FBA9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7338322"/>
            <a:ext cx="523875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2969E"/>
          </a:solidFill>
          <a:ln xmlns:a="http://schemas.openxmlformats.org/drawingml/2006/main" w="0">
            <a:noFill/>
          </a:ln>
        </p:spPr>
      </p:sp>
      <p:sp>
        <p:nvSpPr>
          <p:cNvPr id="31" name="矩形 30">
            <a:extLst xmlns:a="http://schemas.openxmlformats.org/drawingml/2006/main">
              <a:ext uri="{FF2B5EF4-FFF2-40B4-BE49-F238E27FC236}">
                <a16:creationId xmlns:a16="http://schemas.microsoft.com/office/drawing/2014/main" id="{F6B01593-B5AC-4B57-9DB1-5B640BFB3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6962085"/>
            <a:ext cx="37147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4484C"/>
          </a:solidFill>
          <a:ln xmlns:a="http://schemas.openxmlformats.org/drawingml/2006/main" w="0">
            <a:noFill/>
          </a:ln>
        </p:spPr>
      </p:sp>
      <p:sp>
        <p:nvSpPr>
          <p:cNvPr id="32" name="准备截取片段">
            <a:extLst xmlns:a="http://schemas.openxmlformats.org/drawingml/2006/main">
              <a:ext uri="{FF2B5EF4-FFF2-40B4-BE49-F238E27FC236}">
                <a16:creationId xmlns:a16="http://schemas.microsoft.com/office/drawing/2014/main" id="{E425E724-DDD2-4908-A4E1-F49E96AD9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962085"/>
            <a:ext cx="3524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3000" b="1">
                <a:solidFill>
                  <a:srgbClr val="FFFFFF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3000" b="1">
                <a:solidFill>
                  <a:srgbClr val="FFFFFF"/>
                </a:solidFill>
                <a:latin typeface="思源黑体 2 Bold"/>
                <a:ea typeface="思源黑体 2 Bold"/>
                <a:cs typeface="思源黑体 2 Bold"/>
              </a:rPr>
              <a:t>直接跳过评分</a:t>
            </a:r>
          </a:p>
        </p:txBody>
      </p:sp>
      <p:sp>
        <p:nvSpPr>
          <p:cNvPr id="33" name="箭头: 右 32">
            <a:extLst xmlns:a="http://schemas.openxmlformats.org/drawingml/2006/main">
              <a:ext uri="{FF2B5EF4-FFF2-40B4-BE49-F238E27FC236}">
                <a16:creationId xmlns:a16="http://schemas.microsoft.com/office/drawing/2014/main" id="{36F7FDD1-2424-47AC-BCF4-728D34DB3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7338322"/>
            <a:ext cx="523875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2969E"/>
          </a:solidFill>
          <a:ln xmlns:a="http://schemas.openxmlformats.org/drawingml/2006/main" w="0">
            <a:noFill/>
          </a:ln>
        </p:spPr>
      </p:sp>
      <p:sp>
        <p:nvSpPr>
          <p:cNvPr id="34" name="矩形 33">
            <a:extLst xmlns:a="http://schemas.openxmlformats.org/drawingml/2006/main">
              <a:ext uri="{FF2B5EF4-FFF2-40B4-BE49-F238E27FC236}">
                <a16:creationId xmlns:a16="http://schemas.microsoft.com/office/drawing/2014/main" id="{10377180-3889-4A9A-B33A-ACEF43444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87375" y="6962085"/>
            <a:ext cx="347662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4484C"/>
          </a:solidFill>
          <a:ln xmlns:a="http://schemas.openxmlformats.org/drawingml/2006/main" w="0">
            <a:noFill/>
          </a:ln>
        </p:spPr>
      </p:sp>
      <p:sp>
        <p:nvSpPr>
          <p:cNvPr id="35" name="取编号时才报错">
            <a:extLst xmlns:a="http://schemas.openxmlformats.org/drawingml/2006/main">
              <a:ext uri="{FF2B5EF4-FFF2-40B4-BE49-F238E27FC236}">
                <a16:creationId xmlns:a16="http://schemas.microsoft.com/office/drawing/2014/main" id="{35E36CB6-E73D-49D8-AC5F-CA41BA873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82625" y="6962085"/>
            <a:ext cx="328612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3000" b="1">
                <a:solidFill>
                  <a:srgbClr val="FFFFFF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3000" b="1">
                <a:solidFill>
                  <a:srgbClr val="FFFFFF"/>
                </a:solidFill>
                <a:latin typeface="思源黑体 2 Bold"/>
                <a:ea typeface="思源黑体 2 Bold"/>
                <a:cs typeface="思源黑体 2 Bold"/>
              </a:rPr>
              <a:t>汇总目录全部 JSON</a:t>
            </a:r>
            <a:endParaRPr sz="3000" b="1">
              <a:solidFill>
                <a:srgbClr val="FFFFFF"/>
              </a:solidFill>
              <a:latin typeface="思源黑体 2 Bold"/>
              <a:ea typeface="思源黑体 2 Bold"/>
              <a:cs typeface="思源黑体 2 Bold"/>
            </a:endParaRPr>
          </a:p>
        </p:txBody>
      </p:sp>
    </p:spTree>
    <p:extLst>
      <p:ext uri="{BB962C8B-B14F-4D97-AF65-F5344CB8AC3E}">
        <p14:creationId xmlns:p14="http://schemas.microsoft.com/office/powerpoint/2010/main" val="145337253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9A3D8F68-33DE-4F9A-A069-C7BDDB5AC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9610498">
            <a:off x="-145264" y="-787739"/>
            <a:ext cx="2962940" cy="2625905"/>
          </a:xfrm>
          <a:custGeom xmlns:a="http://schemas.openxmlformats.org/drawingml/2006/main">
            <a:rect l="l" t="t" r="r" b="b"/>
            <a:pathLst>
              <a:path w="2962940" h="2625905">
                <a:moveTo>
                  <a:pt x="0" y="0"/>
                </a:moveTo>
                <a:lnTo>
                  <a:pt x="2962940" y="0"/>
                </a:lnTo>
                <a:lnTo>
                  <a:pt x="2962940" y="2625905"/>
                </a:lnTo>
                <a:lnTo>
                  <a:pt x="0" y="262590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b31f2c4e623043f0">
              <a:alphaModFix amt="46000"/>
              <a:extLst>
                <a:ext uri="{96DAC541-7B7A-43D3-8B79-37D633B846F1}">
                  <asvg:svgBlip xmlns:asvg="http://schemas.microsoft.com/office/drawing/2016/SVG/main" r:embed="R86e79d7ba177407a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21F16FED-E14E-4711-B9EC-7C1090FDE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9967101">
            <a:off x="-840298" y="-451988"/>
            <a:ext cx="2792062" cy="2474465"/>
          </a:xfrm>
          <a:custGeom xmlns:a="http://schemas.openxmlformats.org/drawingml/2006/main">
            <a:rect l="l" t="t" r="r" b="b"/>
            <a:pathLst>
              <a:path w="2792062" h="2474465">
                <a:moveTo>
                  <a:pt x="0" y="0"/>
                </a:moveTo>
                <a:lnTo>
                  <a:pt x="2792062" y="0"/>
                </a:lnTo>
                <a:lnTo>
                  <a:pt x="2792062" y="2474465"/>
                </a:lnTo>
                <a:lnTo>
                  <a:pt x="0" y="247446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4a2b9d1d02894d4a">
              <a:alphaModFix amt="31000"/>
              <a:extLst>
                <a:ext uri="{96DAC541-7B7A-43D3-8B79-37D633B846F1}">
                  <asvg:svgBlip xmlns:asvg="http://schemas.microsoft.com/office/drawing/2016/SVG/main" r:embed="R88dad02ab6b449b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5" name="Freeform 15">
            <a:extLst xmlns:a="http://schemas.openxmlformats.org/drawingml/2006/main">
              <a:ext uri="{FF2B5EF4-FFF2-40B4-BE49-F238E27FC236}">
                <a16:creationId xmlns:a16="http://schemas.microsoft.com/office/drawing/2014/main" id="{17CED48D-A808-48DF-B4A6-1DC193A1C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0578" y="237690"/>
            <a:ext cx="3178258" cy="942458"/>
          </a:xfrm>
          <a:custGeom xmlns:a="http://schemas.openxmlformats.org/drawingml/2006/main">
            <a:rect l="l" t="t" r="r" b="b"/>
            <a:pathLst>
              <a:path w="3178258" h="942458">
                <a:moveTo>
                  <a:pt x="0" y="0"/>
                </a:moveTo>
                <a:lnTo>
                  <a:pt x="3178257" y="0"/>
                </a:lnTo>
                <a:lnTo>
                  <a:pt x="3178257" y="942457"/>
                </a:lnTo>
                <a:lnTo>
                  <a:pt x="0" y="942457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db3f728e89864645"/>
            <a:stretch>
              <a:fillRect l="-637" t="-1274" r="-637" b="0"/>
            </a:stretch>
          </a:blipFill>
        </p:spPr>
      </p:sp>
      <p:sp>
        <p:nvSpPr>
          <p:cNvPr id="16" name="测试踩坑">
            <a:extLst xmlns:a="http://schemas.openxmlformats.org/drawingml/2006/main">
              <a:ext uri="{FF2B5EF4-FFF2-40B4-BE49-F238E27FC236}">
                <a16:creationId xmlns:a16="http://schemas.microsoft.com/office/drawing/2014/main" id="{05B8EFA3-EA26-44E5-BA92-E0921DDFD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047750"/>
            <a:ext cx="1381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5100" b="1">
                <a:solidFill>
                  <a:srgbClr val="111111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5100" b="1">
                <a:solidFill>
                  <a:srgbClr val="111111"/>
                </a:solidFill>
                <a:latin typeface="思源黑体 2 Bold"/>
                <a:ea typeface="思源黑体 2 Bold"/>
                <a:cs typeface="思源黑体 2 Bold"/>
              </a:rPr>
              <a:t>AI 实践与反思</a:t>
            </a:r>
          </a:p>
        </p:txBody>
      </p:sp>
      <p:sp>
        <p:nvSpPr>
          <p:cNvPr id="17" name="08">
            <a:extLst xmlns:a="http://schemas.openxmlformats.org/drawingml/2006/main">
              <a:ext uri="{FF2B5EF4-FFF2-40B4-BE49-F238E27FC236}">
                <a16:creationId xmlns:a16="http://schemas.microsoft.com/office/drawing/2014/main" id="{DFA462CF-75CA-4819-8BF1-495082B40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0" y="9353550"/>
            <a:ext cx="857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875" b="0">
                <a:solidFill>
                  <a:srgbClr val="92969E"/>
                </a:solidFill>
                <a:latin typeface="思源黑体 2"/>
                <a:ea typeface="思源黑体 2"/>
                <a:cs typeface="思源黑体 2"/>
              </a:defRPr>
            </a:pPr>
            <a:r>
              <a:rPr sz="1875" b="0">
                <a:solidFill>
                  <a:srgbClr val="92969E"/>
                </a:solidFill>
                <a:latin typeface="思源黑体 2"/>
                <a:ea typeface="思源黑体 2"/>
                <a:cs typeface="思源黑体 2"/>
              </a:rPr>
              <a:t>08</a:t>
            </a:r>
          </a:p>
        </p:txBody>
      </p:sp>
      <p:sp>
        <p:nvSpPr>
          <p:cNvPr id="18" name="只检查“抛了异常”，漏掉“异常之前做了什么”">
            <a:extLst xmlns:a="http://schemas.openxmlformats.org/drawingml/2006/main">
              <a:ext uri="{FF2B5EF4-FFF2-40B4-BE49-F238E27FC236}">
                <a16:creationId xmlns:a16="http://schemas.microsoft.com/office/drawing/2014/main" id="{B01EE976-5813-452F-97C3-25D74E5D4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24125"/>
            <a:ext cx="15335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3525" b="1">
                <a:solidFill>
                  <a:srgbClr val="44484C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3525" b="1">
                <a:solidFill>
                  <a:srgbClr val="44484C"/>
                </a:solidFill>
                <a:latin typeface="思源黑体 2 Bold"/>
                <a:ea typeface="思源黑体 2 Bold"/>
                <a:cs typeface="思源黑体 2 Bold"/>
              </a:rPr>
              <a:t>AI 提速，但预期结果与业务契约必须由人确认</a:t>
            </a:r>
          </a:p>
        </p:txBody>
      </p:sp>
      <p:sp>
        <p:nvSpPr>
          <p:cNvPr id="19" name="早期用例：通过">
            <a:extLst xmlns:a="http://schemas.openxmlformats.org/drawingml/2006/main">
              <a:ext uri="{FF2B5EF4-FFF2-40B4-BE49-F238E27FC236}">
                <a16:creationId xmlns:a16="http://schemas.microsoft.com/office/drawing/2014/main" id="{43DE8CE1-20D6-4D8D-BB48-B073DC890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905250"/>
            <a:ext cx="6953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3225" b="1">
                <a:solidFill>
                  <a:srgbClr val="92969E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3225" b="1">
                <a:solidFill>
                  <a:srgbClr val="92969E"/>
                </a:solidFill>
                <a:latin typeface="思源黑体 2 Bold"/>
                <a:ea typeface="思源黑体 2 Bold"/>
                <a:cs typeface="思源黑体 2 Bold"/>
              </a:rPr>
              <a:t>AI 有效工作</a:t>
            </a:r>
            <a:endParaRPr sz="3225" b="1">
              <a:solidFill>
                <a:srgbClr val="92969E"/>
              </a:solidFill>
              <a:latin typeface="思源黑体 2 Bold"/>
              <a:ea typeface="思源黑体 2 Bold"/>
              <a:cs typeface="思源黑体 2 Bold"/>
            </a:endParaRPr>
          </a:p>
        </p:txBody>
      </p:sp>
      <p:sp>
        <p:nvSpPr>
          <p:cNvPr id="20" name="with pytest.raises(Key">
            <a:extLst xmlns:a="http://schemas.openxmlformats.org/drawingml/2006/main">
              <a:ext uri="{FF2B5EF4-FFF2-40B4-BE49-F238E27FC236}">
                <a16:creationId xmlns:a16="http://schemas.microsoft.com/office/drawing/2014/main" id="{C2FA3D6B-C943-4731-860F-9B11BBC67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57750"/>
            <a:ext cx="7143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550" b="1">
                <a:solidFill>
                  <a:srgbClr val="44484C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2550" b="1">
                <a:solidFill>
                  <a:srgbClr val="44484C"/>
                </a:solidFill>
                <a:latin typeface="思源黑体 2 Bold"/>
                <a:ea typeface="思源黑体 2 Bold"/>
                <a:cs typeface="思源黑体 2 Bold"/>
              </a:rPr>
              <a:t>风险枚举 + 状态场景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550" b="1">
                <a:solidFill>
                  <a:srgbClr val="44484C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2550" b="1">
                <a:solidFill>
                  <a:srgbClr val="44484C"/>
                </a:solidFill>
                <a:latin typeface="思源黑体 2 Bold"/>
                <a:ea typeface="思源黑体 2 Bold"/>
                <a:cs typeface="思源黑体 2 Bold"/>
              </a:rPr>
              <a:t>生成 pytest、测试数据与 Mock</a:t>
            </a:r>
          </a:p>
        </p:txBody>
      </p:sp>
      <p:sp>
        <p:nvSpPr>
          <p:cNvPr id="21" name="只验证异常类型&#10;无法发现视频已被打开">
            <a:extLst xmlns:a="http://schemas.openxmlformats.org/drawingml/2006/main">
              <a:ext uri="{FF2B5EF4-FFF2-40B4-BE49-F238E27FC236}">
                <a16:creationId xmlns:a16="http://schemas.microsoft.com/office/drawing/2014/main" id="{55C471EE-6092-415D-A0C2-E09ABDC30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453188"/>
            <a:ext cx="7048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700" b="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defRPr>
            </a:pPr>
            <a:r>
              <a:rPr sz="2700" b="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rPr>
              <a:t>定位缓存跳过逻辑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700" b="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defRPr>
            </a:pPr>
            <a:r>
              <a:rPr sz="2700" b="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rPr>
              <a:t>定位目录级汇总污染</a:t>
            </a:r>
          </a:p>
        </p:txBody>
      </p:sp>
      <p:sp>
        <p:nvSpPr>
          <p:cNvPr id="22" name="加强断言：暴露缺陷">
            <a:extLst xmlns:a="http://schemas.openxmlformats.org/drawingml/2006/main">
              <a:ext uri="{FF2B5EF4-FFF2-40B4-BE49-F238E27FC236}">
                <a16:creationId xmlns:a16="http://schemas.microsoft.com/office/drawing/2014/main" id="{DB7B6D7B-61C0-4DAD-849F-8767F369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905250"/>
            <a:ext cx="7334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3225" b="1">
                <a:solidFill>
                  <a:srgbClr val="00558A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3225" b="1">
                <a:solidFill>
                  <a:srgbClr val="00558A"/>
                </a:solidFill>
                <a:latin typeface="思源黑体 2 Bold"/>
                <a:ea typeface="思源黑体 2 Bold"/>
                <a:cs typeface="思源黑体 2 Bold"/>
              </a:rPr>
              <a:t>人工修正</a:t>
            </a:r>
            <a:endParaRPr sz="3225" b="1">
              <a:solidFill>
                <a:srgbClr val="00558A"/>
              </a:solidFill>
              <a:latin typeface="思源黑体 2 Bold"/>
              <a:ea typeface="思源黑体 2 Bold"/>
              <a:cs typeface="思源黑体 2 Bold"/>
            </a:endParaRPr>
          </a:p>
        </p:txBody>
      </p:sp>
      <p:sp>
        <p:nvSpPr>
          <p:cNvPr id="23" name="video_file_clip.assert">
            <a:extLst xmlns:a="http://schemas.openxmlformats.org/drawingml/2006/main">
              <a:ext uri="{FF2B5EF4-FFF2-40B4-BE49-F238E27FC236}">
                <a16:creationId xmlns:a16="http://schemas.microsoft.com/office/drawing/2014/main" id="{50504A72-E937-40DA-9609-62D7B4A06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072063"/>
            <a:ext cx="7429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1">
                <a:solidFill>
                  <a:srgbClr val="00558A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2400" b="1">
                <a:solidFill>
                  <a:srgbClr val="00558A"/>
                </a:solidFill>
                <a:latin typeface="思源黑体 2 Bold"/>
                <a:ea typeface="思源黑体 2 Bold"/>
                <a:cs typeface="思源黑体 2 Bold"/>
              </a:rPr>
              <a:t>拒绝“非法评分全部抛错”</a:t>
            </a:r>
          </a:p>
        </p:txBody>
      </p:sp>
      <p:sp>
        <p:nvSpPr>
          <p:cNvPr id="24" name="实际调用 1 次，测试失败&#10;定位到字段校验晚">
            <a:extLst xmlns:a="http://schemas.openxmlformats.org/drawingml/2006/main">
              <a:ext uri="{FF2B5EF4-FFF2-40B4-BE49-F238E27FC236}">
                <a16:creationId xmlns:a16="http://schemas.microsoft.com/office/drawing/2014/main" id="{C5D32DD9-6402-4CC8-80AE-71622B808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381750"/>
            <a:ext cx="7334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700" b="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defRPr>
            </a:pPr>
            <a:r>
              <a:rPr sz="2700" b="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rPr>
              <a:t>沿用项目 0～5 分契约</a:t>
            </a:r>
            <a:endParaRPr sz="2700" b="0">
              <a:solidFill>
                <a:srgbClr val="44484C"/>
              </a:solidFill>
              <a:latin typeface="思源黑体 2"/>
              <a:ea typeface="思源黑体 2"/>
              <a:cs typeface="思源黑体 2"/>
            </a:endParaRPr>
          </a:p>
          <a:p xmlns:a="http://schemas.openxmlformats.org/drawingml/2006/main">
            <a:pPr algn="l">
              <a:lnSpc>
                <a:spcPct val="115000"/>
              </a:lnSpc>
              <a:buNone/>
              <a:defRPr sz="2700" b="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defRPr>
            </a:pPr>
            <a:r>
              <a:rPr sz="2700" b="0">
                <a:solidFill>
                  <a:srgbClr val="44484C"/>
                </a:solidFill>
                <a:latin typeface="思源黑体 2"/>
                <a:ea typeface="思源黑体 2"/>
                <a:cs typeface="思源黑体 2"/>
              </a:rPr>
              <a:t>只保留可观察行为断言</a:t>
            </a:r>
            <a:endParaRPr sz="2700" b="0">
              <a:solidFill>
                <a:srgbClr val="44484C"/>
              </a:solidFill>
              <a:latin typeface="思源黑体 2"/>
              <a:ea typeface="思源黑体 2"/>
              <a:cs typeface="思源黑体 2"/>
            </a:endParaRPr>
          </a:p>
        </p:txBody>
      </p:sp>
      <p:sp>
        <p:nvSpPr>
          <p:cNvPr id="25" name="修复：入口前置必要字段检查 → 原异常断言通">
            <a:extLst xmlns:a="http://schemas.openxmlformats.org/drawingml/2006/main">
              <a:ext uri="{FF2B5EF4-FFF2-40B4-BE49-F238E27FC236}">
                <a16:creationId xmlns:a16="http://schemas.microsoft.com/office/drawing/2014/main" id="{041742AB-9D6A-4F39-A895-582092CC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4457" y="8239125"/>
            <a:ext cx="1533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775" b="1">
                <a:solidFill>
                  <a:srgbClr val="44484C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2775" b="1">
                <a:solidFill>
                  <a:srgbClr val="44484C"/>
                </a:solidFill>
                <a:latin typeface="思源黑体 2 Bold"/>
                <a:ea typeface="思源黑体 2 Bold"/>
                <a:cs typeface="思源黑体 2 Bold"/>
              </a:rPr>
              <a:t>结论：AI 负责扩展视角，人工负责业务语义与最终证据</a:t>
            </a:r>
            <a:endParaRPr sz="2775" b="1">
              <a:solidFill>
                <a:srgbClr val="44484C"/>
              </a:solidFill>
              <a:latin typeface="思源黑体 2 Bold"/>
              <a:ea typeface="思源黑体 2 Bold"/>
              <a:cs typeface="思源黑体 2 Bold"/>
            </a:endParaRPr>
          </a:p>
        </p:txBody>
      </p:sp>
    </p:spTree>
    <p:extLst>
      <p:ext uri="{BB962C8B-B14F-4D97-AF65-F5344CB8AC3E}">
        <p14:creationId xmlns:p14="http://schemas.microsoft.com/office/powerpoint/2010/main" val="14533725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9A3D8F68-33DE-4F9A-A069-C7BDDB5AC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9610498">
            <a:off x="-145264" y="-787739"/>
            <a:ext cx="2962940" cy="2625905"/>
          </a:xfrm>
          <a:custGeom xmlns:a="http://schemas.openxmlformats.org/drawingml/2006/main">
            <a:rect l="l" t="t" r="r" b="b"/>
            <a:pathLst>
              <a:path w="2962940" h="2625905">
                <a:moveTo>
                  <a:pt x="0" y="0"/>
                </a:moveTo>
                <a:lnTo>
                  <a:pt x="2962940" y="0"/>
                </a:lnTo>
                <a:lnTo>
                  <a:pt x="2962940" y="2625905"/>
                </a:lnTo>
                <a:lnTo>
                  <a:pt x="0" y="262590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695313d8e8b8471e">
              <a:alphaModFix amt="46000"/>
              <a:extLst>
                <a:ext uri="{96DAC541-7B7A-43D3-8B79-37D633B846F1}">
                  <asvg:svgBlip xmlns:asvg="http://schemas.microsoft.com/office/drawing/2016/SVG/main" r:embed="Rd0e092157436436e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21F16FED-E14E-4711-B9EC-7C1090FDE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9967101">
            <a:off x="-840298" y="-451988"/>
            <a:ext cx="2792062" cy="2474465"/>
          </a:xfrm>
          <a:custGeom xmlns:a="http://schemas.openxmlformats.org/drawingml/2006/main">
            <a:rect l="l" t="t" r="r" b="b"/>
            <a:pathLst>
              <a:path w="2792062" h="2474465">
                <a:moveTo>
                  <a:pt x="0" y="0"/>
                </a:moveTo>
                <a:lnTo>
                  <a:pt x="2792062" y="0"/>
                </a:lnTo>
                <a:lnTo>
                  <a:pt x="2792062" y="2474465"/>
                </a:lnTo>
                <a:lnTo>
                  <a:pt x="0" y="247446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a94426c5a9f458a">
              <a:alphaModFix amt="31000"/>
              <a:extLst>
                <a:ext uri="{96DAC541-7B7A-43D3-8B79-37D633B846F1}">
                  <asvg:svgBlip xmlns:asvg="http://schemas.microsoft.com/office/drawing/2016/SVG/main" r:embed="Rdbadfc1b7a2e48c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5" name="Freeform 15">
            <a:extLst xmlns:a="http://schemas.openxmlformats.org/drawingml/2006/main">
              <a:ext uri="{FF2B5EF4-FFF2-40B4-BE49-F238E27FC236}">
                <a16:creationId xmlns:a16="http://schemas.microsoft.com/office/drawing/2014/main" id="{17CED48D-A808-48DF-B4A6-1DC193A1C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0578" y="237690"/>
            <a:ext cx="3178258" cy="942458"/>
          </a:xfrm>
          <a:custGeom xmlns:a="http://schemas.openxmlformats.org/drawingml/2006/main">
            <a:rect l="l" t="t" r="r" b="b"/>
            <a:pathLst>
              <a:path w="3178258" h="942458">
                <a:moveTo>
                  <a:pt x="0" y="0"/>
                </a:moveTo>
                <a:lnTo>
                  <a:pt x="3178257" y="0"/>
                </a:lnTo>
                <a:lnTo>
                  <a:pt x="3178257" y="942457"/>
                </a:lnTo>
                <a:lnTo>
                  <a:pt x="0" y="942457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775608034ac54a60"/>
            <a:stretch>
              <a:fillRect l="-637" t="-1274" r="-637" b="0"/>
            </a:stretch>
          </a:blipFill>
        </p:spPr>
      </p:sp>
      <p:sp>
        <p:nvSpPr>
          <p:cNvPr id="16" name="回归验证">
            <a:extLst xmlns:a="http://schemas.openxmlformats.org/drawingml/2006/main">
              <a:ext uri="{FF2B5EF4-FFF2-40B4-BE49-F238E27FC236}">
                <a16:creationId xmlns:a16="http://schemas.microsoft.com/office/drawing/2014/main" id="{5AE18742-A7F8-43EC-838A-4CD85FCA2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047750"/>
            <a:ext cx="1381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5100" b="1">
                <a:solidFill>
                  <a:srgbClr val="111111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5100" b="1">
                <a:solidFill>
                  <a:srgbClr val="111111"/>
                </a:solidFill>
                <a:latin typeface="思源黑体 2 Bold"/>
                <a:ea typeface="思源黑体 2 Bold"/>
                <a:cs typeface="思源黑体 2 Bold"/>
              </a:rPr>
              <a:t>回归验证</a:t>
            </a:r>
          </a:p>
        </p:txBody>
      </p:sp>
      <p:sp>
        <p:nvSpPr>
          <p:cNvPr id="17" name="09">
            <a:extLst xmlns:a="http://schemas.openxmlformats.org/drawingml/2006/main">
              <a:ext uri="{FF2B5EF4-FFF2-40B4-BE49-F238E27FC236}">
                <a16:creationId xmlns:a16="http://schemas.microsoft.com/office/drawing/2014/main" id="{B71699C8-1F48-44B6-BA49-D34D6550D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0" y="9353550"/>
            <a:ext cx="857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875" b="0">
                <a:solidFill>
                  <a:srgbClr val="92969E"/>
                </a:solidFill>
                <a:latin typeface="思源黑体 2"/>
                <a:ea typeface="思源黑体 2"/>
                <a:cs typeface="思源黑体 2"/>
              </a:defRPr>
            </a:pPr>
            <a:r>
              <a:rPr sz="1875" b="0">
                <a:solidFill>
                  <a:srgbClr val="92969E"/>
                </a:solidFill>
                <a:latin typeface="思源黑体 2"/>
                <a:ea typeface="思源黑体 2"/>
                <a:cs typeface="思源黑体 2"/>
              </a:rPr>
              <a:t>09</a:t>
            </a:r>
          </a:p>
        </p:txBody>
      </p:sp>
      <p:sp>
        <p:nvSpPr>
          <p:cNvPr id="18" name="33 / 33 通过">
            <a:extLst xmlns:a="http://schemas.openxmlformats.org/drawingml/2006/main">
              <a:ext uri="{FF2B5EF4-FFF2-40B4-BE49-F238E27FC236}">
                <a16:creationId xmlns:a16="http://schemas.microsoft.com/office/drawing/2014/main" id="{F3E3BD45-FF64-4D20-AD97-A108CAFD9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24125"/>
            <a:ext cx="15240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5250" b="1">
                <a:solidFill>
                  <a:srgbClr val="00558A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5250" b="1">
                <a:solidFill>
                  <a:srgbClr val="00558A"/>
                </a:solidFill>
                <a:latin typeface="思源黑体 2 Bold"/>
                <a:ea typeface="思源黑体 2 Bold"/>
                <a:cs typeface="思源黑体 2 Bold"/>
              </a:rPr>
              <a:t>53 / 53 通过</a:t>
            </a:r>
          </a:p>
        </p:txBody>
      </p:sp>
      <p:graphicFrame>
        <p:nvGraphicFramePr>
          <p:cNvPr id="28" name="表格 29"/>
          <p:cNvGraphicFramePr/>
          <p:nvPr/>
        </p:nvGraphicFramePr>
        <p:xfrm>
          <a:off xmlns:a="http://schemas.openxmlformats.org/drawingml/2006/main" x="8382000" y="3952875"/>
          <a:ext xmlns:a="http://schemas.openxmlformats.org/drawingml/2006/main" cx="8477250" cy="381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5048250"/>
              </a:tblGrid>
              <a:tr h="9525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2325" b="1">
                          <a:solidFill>
                            <a:srgbClr val="FFFFFF"/>
                          </a:solidFill>
                          <a:latin typeface="思源黑体 2 Bold"/>
                          <a:ea typeface="思源黑体 2 Bold"/>
                          <a:cs typeface="思源黑体 2 Bold"/>
                        </a:rPr>
                        <a:t>验证项</a:t>
                      </a:r>
                    </a:p>
                  </a:txBody>
                  <a:tcPr marL="91440" marR="91440" marT="45720" marB="45720" anchor="ctr">
                    <a:solidFill>
                      <a:srgbClr val="44484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325" b="1">
                          <a:solidFill>
                            <a:srgbClr val="FFFFFF"/>
                          </a:solidFill>
                          <a:latin typeface="思源黑体 2 Bold"/>
                          <a:ea typeface="思源黑体 2 Bold"/>
                          <a:cs typeface="思源黑体 2 Bold"/>
                        </a:rPr>
                        <a:t>结果</a:t>
                      </a:r>
                    </a:p>
                  </a:txBody>
                  <a:tcPr marL="91440" marR="91440" marT="45720" marB="45720" anchor="ctr">
                    <a:solidFill>
                      <a:srgbClr val="44484C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2325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D2-001</a:t>
                      </a:r>
                    </a:p>
                  </a:txBody>
                  <a:tcPr marL="91440" marR="91440" marT="45720" marB="45720" anchor="ctr">
                    <a:solidFill>
                      <a:srgbClr val="E7E8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325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输入变化后重新评分</a:t>
                      </a:r>
                      <a:endParaRPr sz="2325" b="0">
                        <a:solidFill>
                          <a:srgbClr val="44484C"/>
                        </a:solidFill>
                        <a:latin typeface="思源黑体 2"/>
                        <a:ea typeface="思源黑体 2"/>
                        <a:cs typeface="思源黑体 2"/>
                      </a:endParaRPr>
                    </a:p>
                  </a:txBody>
                  <a:tcPr marL="91440" marR="91440" marT="45720" marB="45720" anchor="ctr">
                    <a:solidFill>
                      <a:srgbClr val="E7E8EA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2325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缓存隔离</a:t>
                      </a:r>
                    </a:p>
                  </a:txBody>
                  <a:tcPr marL="91440" marR="91440" marT="45720" marB="4572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325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只汇总本轮问题</a:t>
                      </a:r>
                    </a:p>
                  </a:txBody>
                  <a:tcPr marL="91440" marR="91440" marT="45720" marB="45720" anchor="ctr">
                    <a:solidFill>
                      <a:srgbClr val="F5F5F5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2325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接口契约</a:t>
                      </a:r>
                    </a:p>
                  </a:txBody>
                  <a:tcPr marL="91440" marR="91440" marT="45720" marB="45720" anchor="ctr">
                    <a:solidFill>
                      <a:srgbClr val="E7E8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325" b="0">
                          <a:solidFill>
                            <a:srgbClr val="44484C"/>
                          </a:solidFill>
                          <a:latin typeface="思源黑体 2"/>
                          <a:ea typeface="思源黑体 2"/>
                          <a:cs typeface="思源黑体 2"/>
                        </a:rPr>
                        <a:t>30 秒超时 + HTTP 检查</a:t>
                      </a:r>
                      <a:endParaRPr sz="2325" b="0">
                        <a:solidFill>
                          <a:srgbClr val="44484C"/>
                        </a:solidFill>
                        <a:latin typeface="思源黑体 2"/>
                        <a:ea typeface="思源黑体 2"/>
                        <a:cs typeface="思源黑体 2"/>
                      </a:endParaRPr>
                    </a:p>
                  </a:txBody>
                  <a:tcPr marL="91440" marR="91440" marT="45720" marB="45720" anchor="ctr">
                    <a:solidFill>
                      <a:srgbClr val="E7E8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1428750" y="3952875"/>
          <a:ext xmlns:a="http://schemas.openxmlformats.org/drawingml/2006/main" cx="64770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8e301a78c3f4106"/>
          </a:graphicData>
        </a:graphic>
      </p:graphicFrame>
    </p:spTree>
    <p:extLst>
      <p:ext uri="{BB962C8B-B14F-4D97-AF65-F5344CB8AC3E}">
        <p14:creationId xmlns:p14="http://schemas.microsoft.com/office/powerpoint/2010/main" val="145337253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9A3D8F68-33DE-4F9A-A069-C7BDDB5AC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9610498">
            <a:off x="-145264" y="-787739"/>
            <a:ext cx="2962940" cy="2625905"/>
          </a:xfrm>
          <a:custGeom xmlns:a="http://schemas.openxmlformats.org/drawingml/2006/main">
            <a:rect l="l" t="t" r="r" b="b"/>
            <a:pathLst>
              <a:path w="2962940" h="2625905">
                <a:moveTo>
                  <a:pt x="0" y="0"/>
                </a:moveTo>
                <a:lnTo>
                  <a:pt x="2962940" y="0"/>
                </a:lnTo>
                <a:lnTo>
                  <a:pt x="2962940" y="2625905"/>
                </a:lnTo>
                <a:lnTo>
                  <a:pt x="0" y="262590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132186fcc724467f">
              <a:alphaModFix amt="46000"/>
              <a:extLst>
                <a:ext uri="{96DAC541-7B7A-43D3-8B79-37D633B846F1}">
                  <asvg:svgBlip xmlns:asvg="http://schemas.microsoft.com/office/drawing/2016/SVG/main" r:embed="R9bb7536ff29a4f3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21F16FED-E14E-4711-B9EC-7C1090FDE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9967101">
            <a:off x="-840298" y="-451988"/>
            <a:ext cx="2792062" cy="2474465"/>
          </a:xfrm>
          <a:custGeom xmlns:a="http://schemas.openxmlformats.org/drawingml/2006/main">
            <a:rect l="l" t="t" r="r" b="b"/>
            <a:pathLst>
              <a:path w="2792062" h="2474465">
                <a:moveTo>
                  <a:pt x="0" y="0"/>
                </a:moveTo>
                <a:lnTo>
                  <a:pt x="2792062" y="0"/>
                </a:lnTo>
                <a:lnTo>
                  <a:pt x="2792062" y="2474465"/>
                </a:lnTo>
                <a:lnTo>
                  <a:pt x="0" y="247446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7b1324156d3b47ec">
              <a:alphaModFix amt="31000"/>
              <a:extLst>
                <a:ext uri="{96DAC541-7B7A-43D3-8B79-37D633B846F1}">
                  <asvg:svgBlip xmlns:asvg="http://schemas.microsoft.com/office/drawing/2016/SVG/main" r:embed="Re460511ab7de4cf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5" name="Freeform 15">
            <a:extLst xmlns:a="http://schemas.openxmlformats.org/drawingml/2006/main">
              <a:ext uri="{FF2B5EF4-FFF2-40B4-BE49-F238E27FC236}">
                <a16:creationId xmlns:a16="http://schemas.microsoft.com/office/drawing/2014/main" id="{17CED48D-A808-48DF-B4A6-1DC193A1C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0578" y="237690"/>
            <a:ext cx="3178258" cy="942458"/>
          </a:xfrm>
          <a:custGeom xmlns:a="http://schemas.openxmlformats.org/drawingml/2006/main">
            <a:rect l="l" t="t" r="r" b="b"/>
            <a:pathLst>
              <a:path w="3178258" h="942458">
                <a:moveTo>
                  <a:pt x="0" y="0"/>
                </a:moveTo>
                <a:lnTo>
                  <a:pt x="3178257" y="0"/>
                </a:lnTo>
                <a:lnTo>
                  <a:pt x="3178257" y="942457"/>
                </a:lnTo>
                <a:lnTo>
                  <a:pt x="0" y="942457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170c4809717c4a1e"/>
            <a:stretch>
              <a:fillRect l="-637" t="-1274" r="-637" b="0"/>
            </a:stretch>
          </a:blipFill>
        </p:spPr>
      </p:sp>
      <p:sp>
        <p:nvSpPr>
          <p:cNvPr id="16" name="测试结论">
            <a:extLst xmlns:a="http://schemas.openxmlformats.org/drawingml/2006/main">
              <a:ext uri="{FF2B5EF4-FFF2-40B4-BE49-F238E27FC236}">
                <a16:creationId xmlns:a16="http://schemas.microsoft.com/office/drawing/2014/main" id="{876AC67E-A777-4BE0-9AF1-90005C48C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047750"/>
            <a:ext cx="1381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5100" b="1">
                <a:solidFill>
                  <a:srgbClr val="111111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5100" b="1">
                <a:solidFill>
                  <a:srgbClr val="111111"/>
                </a:solidFill>
                <a:latin typeface="思源黑体 2 Bold"/>
                <a:ea typeface="思源黑体 2 Bold"/>
                <a:cs typeface="思源黑体 2 Bold"/>
              </a:rPr>
              <a:t>测试结论</a:t>
            </a:r>
          </a:p>
        </p:txBody>
      </p:sp>
      <p:sp>
        <p:nvSpPr>
          <p:cNvPr id="17" name="10">
            <a:extLst xmlns:a="http://schemas.openxmlformats.org/drawingml/2006/main">
              <a:ext uri="{FF2B5EF4-FFF2-40B4-BE49-F238E27FC236}">
                <a16:creationId xmlns:a16="http://schemas.microsoft.com/office/drawing/2014/main" id="{D6A0DDD3-85E5-4793-B637-40E49B73C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0" y="9353550"/>
            <a:ext cx="857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875" b="0">
                <a:solidFill>
                  <a:srgbClr val="92969E"/>
                </a:solidFill>
                <a:latin typeface="思源黑体 2"/>
                <a:ea typeface="思源黑体 2"/>
                <a:cs typeface="思源黑体 2"/>
              </a:defRPr>
            </a:pPr>
            <a:r>
              <a:rPr sz="1875" b="0">
                <a:solidFill>
                  <a:srgbClr val="92969E"/>
                </a:solidFill>
                <a:latin typeface="思源黑体 2"/>
                <a:ea typeface="思源黑体 2"/>
                <a:cs typeface="思源黑体 2"/>
              </a:rPr>
              <a:t>10</a:t>
            </a:r>
          </a:p>
        </p:txBody>
      </p:sp>
      <p:sp>
        <p:nvSpPr>
          <p:cNvPr id="18" name="01">
            <a:extLst xmlns:a="http://schemas.openxmlformats.org/drawingml/2006/main">
              <a:ext uri="{FF2B5EF4-FFF2-40B4-BE49-F238E27FC236}">
                <a16:creationId xmlns:a16="http://schemas.microsoft.com/office/drawing/2014/main" id="{5A17D2F8-EF58-445D-8C39-E27AFC34D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714625"/>
            <a:ext cx="1047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3600" b="1">
                <a:solidFill>
                  <a:srgbClr val="00558A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3600" b="1">
                <a:solidFill>
                  <a:srgbClr val="00558A"/>
                </a:solidFill>
                <a:latin typeface="思源黑体 2 Bold"/>
                <a:ea typeface="思源黑体 2 Bold"/>
                <a:cs typeface="思源黑体 2 Bold"/>
              </a:rPr>
              <a:t>01</a:t>
            </a:r>
          </a:p>
        </p:txBody>
      </p:sp>
      <p:sp>
        <p:nvSpPr>
          <p:cNvPr id="19" name="三个模块的现有用例全部通过">
            <a:extLst xmlns:a="http://schemas.openxmlformats.org/drawingml/2006/main">
              <a:ext uri="{FF2B5EF4-FFF2-40B4-BE49-F238E27FC236}">
                <a16:creationId xmlns:a16="http://schemas.microsoft.com/office/drawing/2014/main" id="{760C6F25-0D46-4A7E-BF4F-5488A0373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14625"/>
            <a:ext cx="13525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3225" b="1">
                <a:solidFill>
                  <a:srgbClr val="44484C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3225" b="1">
                <a:solidFill>
                  <a:srgbClr val="44484C"/>
                </a:solidFill>
                <a:latin typeface="思源黑体 2 Bold"/>
                <a:ea typeface="思源黑体 2 Bold"/>
                <a:cs typeface="思源黑体 2 Bold"/>
              </a:rPr>
              <a:t>AI 生成 20 条可执行测试并经人工审核</a:t>
            </a:r>
          </a:p>
        </p:txBody>
      </p:sp>
      <p:sp>
        <p:nvSpPr>
          <p:cNvPr id="21" name="02">
            <a:extLst xmlns:a="http://schemas.openxmlformats.org/drawingml/2006/main">
              <a:ext uri="{FF2B5EF4-FFF2-40B4-BE49-F238E27FC236}">
                <a16:creationId xmlns:a16="http://schemas.microsoft.com/office/drawing/2014/main" id="{B972CE90-A889-4936-BEE8-B6117601E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381500"/>
            <a:ext cx="1047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3600" b="1">
                <a:solidFill>
                  <a:srgbClr val="00558A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3600" b="1">
                <a:solidFill>
                  <a:srgbClr val="00558A"/>
                </a:solidFill>
                <a:latin typeface="思源黑体 2 Bold"/>
                <a:ea typeface="思源黑体 2 Bold"/>
                <a:cs typeface="思源黑体 2 Bold"/>
              </a:rPr>
              <a:t>02</a:t>
            </a:r>
          </a:p>
        </p:txBody>
      </p:sp>
      <p:sp>
        <p:nvSpPr>
          <p:cNvPr id="22" name="异常测试应同时检查副作用">
            <a:extLst xmlns:a="http://schemas.openxmlformats.org/drawingml/2006/main">
              <a:ext uri="{FF2B5EF4-FFF2-40B4-BE49-F238E27FC236}">
                <a16:creationId xmlns:a16="http://schemas.microsoft.com/office/drawing/2014/main" id="{1112A55C-8A72-42A1-BB62-56869B4CB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381500"/>
            <a:ext cx="13525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3225" b="1">
                <a:solidFill>
                  <a:srgbClr val="44484C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3225" b="1">
                <a:solidFill>
                  <a:srgbClr val="44484C"/>
                </a:solidFill>
                <a:latin typeface="思源黑体 2 Bold"/>
                <a:ea typeface="思源黑体 2 Bold"/>
                <a:cs typeface="思源黑体 2 Bold"/>
              </a:rPr>
              <a:t>定位并修复 D2-001 缓存污染缺陷</a:t>
            </a:r>
          </a:p>
        </p:txBody>
      </p:sp>
      <p:sp>
        <p:nvSpPr>
          <p:cNvPr id="24" name="03">
            <a:extLst xmlns:a="http://schemas.openxmlformats.org/drawingml/2006/main">
              <a:ext uri="{FF2B5EF4-FFF2-40B4-BE49-F238E27FC236}">
                <a16:creationId xmlns:a16="http://schemas.microsoft.com/office/drawing/2014/main" id="{04EF7661-0AEE-4B68-A0DF-1182246CB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048375"/>
            <a:ext cx="1047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3600" b="1">
                <a:solidFill>
                  <a:srgbClr val="00558A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3600" b="1">
                <a:solidFill>
                  <a:srgbClr val="00558A"/>
                </a:solidFill>
                <a:latin typeface="思源黑体 2 Bold"/>
                <a:ea typeface="思源黑体 2 Bold"/>
                <a:cs typeface="思源黑体 2 Bold"/>
              </a:rPr>
              <a:t>03</a:t>
            </a:r>
          </a:p>
        </p:txBody>
      </p:sp>
      <p:sp>
        <p:nvSpPr>
          <p:cNvPr id="25" name="自动化测试也需要持续完善">
            <a:extLst xmlns:a="http://schemas.openxmlformats.org/drawingml/2006/main">
              <a:ext uri="{FF2B5EF4-FFF2-40B4-BE49-F238E27FC236}">
                <a16:creationId xmlns:a16="http://schemas.microsoft.com/office/drawing/2014/main" id="{A57979B6-236E-4B76-A05F-3A94F8B38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6048375"/>
            <a:ext cx="13525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3225" b="1">
                <a:solidFill>
                  <a:srgbClr val="44484C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3225" b="1">
                <a:solidFill>
                  <a:srgbClr val="44484C"/>
                </a:solidFill>
                <a:latin typeface="思源黑体 2 Bold"/>
                <a:ea typeface="思源黑体 2 Bold"/>
                <a:cs typeface="思源黑体 2 Bold"/>
              </a:rPr>
              <a:t>模块一 33 条 + 模块二 20 条全部通过</a:t>
            </a:r>
          </a:p>
        </p:txBody>
      </p:sp>
      <p:sp>
        <p:nvSpPr>
          <p:cNvPr id="27" name="04">
            <a:extLst xmlns:a="http://schemas.openxmlformats.org/drawingml/2006/main">
              <a:ext uri="{FF2B5EF4-FFF2-40B4-BE49-F238E27FC236}">
                <a16:creationId xmlns:a16="http://schemas.microsoft.com/office/drawing/2014/main" id="{CF942F98-98BC-4A2A-A21F-2EDBF402D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715250"/>
            <a:ext cx="1047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3600" b="1">
                <a:solidFill>
                  <a:srgbClr val="00558A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3600" b="1">
                <a:solidFill>
                  <a:srgbClr val="00558A"/>
                </a:solidFill>
                <a:latin typeface="思源黑体 2 Bold"/>
                <a:ea typeface="思源黑体 2 Bold"/>
                <a:cs typeface="思源黑体 2 Bold"/>
              </a:rPr>
              <a:t>04</a:t>
            </a:r>
          </a:p>
        </p:txBody>
      </p:sp>
      <p:sp>
        <p:nvSpPr>
          <p:cNvPr id="28" name="测试结论应与验证范围一致">
            <a:extLst xmlns:a="http://schemas.openxmlformats.org/drawingml/2006/main">
              <a:ext uri="{FF2B5EF4-FFF2-40B4-BE49-F238E27FC236}">
                <a16:creationId xmlns:a16="http://schemas.microsoft.com/office/drawing/2014/main" id="{D1EC729D-328A-4032-A7AE-C590D3D2F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715250"/>
            <a:ext cx="13525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3225" b="1">
                <a:solidFill>
                  <a:srgbClr val="44484C"/>
                </a:solidFill>
                <a:latin typeface="思源黑体 2 Bold"/>
                <a:ea typeface="思源黑体 2 Bold"/>
                <a:cs typeface="思源黑体 2 Bold"/>
              </a:defRPr>
            </a:pPr>
            <a:r>
              <a:rPr sz="3225" b="1">
                <a:solidFill>
                  <a:srgbClr val="44484C"/>
                </a:solidFill>
                <a:latin typeface="思源黑体 2 Bold"/>
                <a:ea typeface="思源黑体 2 Bold"/>
                <a:cs typeface="思源黑体 2 Bold"/>
              </a:rPr>
              <a:t>结论边界：未验证真实 API 稳定性与评分一致性</a:t>
            </a:r>
          </a:p>
        </p:txBody>
      </p:sp>
    </p:spTree>
    <p:extLst>
      <p:ext uri="{BB962C8B-B14F-4D97-AF65-F5344CB8AC3E}">
        <p14:creationId xmlns:p14="http://schemas.microsoft.com/office/powerpoint/2010/main" val="145337253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2026-09-18T00:54:06.3720000Z</dcterms:created>
  <dcterms:modified xsi:type="dcterms:W3CDTF">2026-09-18T00:54:06.3720000Z</dcterms:modified>
</coreProperties>
</file>