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5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用例数</c:v>
          </c:tx>
          <c:spPr>
            <a:solidFill>
              <a:srgbClr val="44484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>
                    <a:latin typeface="思源黑体 2"/>
                    <a:ea typeface="思源黑体 2"/>
                    <a:cs typeface="思源黑体 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黑盒</c:v>
                </c:pt>
                <c:pt idx="1">
                  <c:v>灰盒</c:v>
                </c:pt>
                <c:pt idx="2">
                  <c:v>白盒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26</c:v>
                </c:pt>
                <c:pt idx="1">
                  <c:v>6</c:v>
                </c:pt>
                <c:pt idx="2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73B-47E1-9C2F-333CDE65FDC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950">
                <a:solidFill>
                  <a:srgbClr val="666666"/>
                </a:solidFill>
                <a:latin typeface="思源黑体 2"/>
                <a:ea typeface="思源黑体 2"/>
                <a:cs typeface="思源黑体 2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100">
                <a:solidFill>
                  <a:srgbClr val="666666"/>
                </a:solidFill>
                <a:latin typeface="思源黑体 2"/>
                <a:ea typeface="思源黑体 2"/>
                <a:cs typeface="思源黑体 2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用例数</c:v>
          </c:tx>
          <c:spPr>
            <a:solidFill>
              <a:srgbClr val="92969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>
                    <a:latin typeface="思源黑体 2"/>
                    <a:ea typeface="思源黑体 2"/>
                    <a:cs typeface="思源黑体 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等价类</c:v>
                </c:pt>
                <c:pt idx="1">
                  <c:v>边界值</c:v>
                </c:pt>
                <c:pt idx="2">
                  <c:v>错误推测</c:v>
                </c:pt>
                <c:pt idx="3">
                  <c:v>场景法</c:v>
                </c:pt>
                <c:pt idx="4">
                  <c:v>静态检查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13</c:v>
                </c:pt>
                <c:pt idx="1">
                  <c:v>12</c:v>
                </c:pt>
                <c:pt idx="2">
                  <c:v>4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3A7-4068-90B0-66D850E2257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思源黑体 2"/>
                <a:ea typeface="思源黑体 2"/>
                <a:cs typeface="思源黑体 2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思源黑体 2"/>
                <a:ea typeface="思源黑体 2"/>
                <a:cs typeface="思源黑体 2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严重程度</c:v>
          </c:tx>
          <c:dPt>
            <c:idx val="0"/>
            <c:bubble3D val="0"/>
            <c:spPr>
              <a:solidFill>
                <a:srgbClr val="44484C"/>
              </a:solidFill>
            </c:spPr>
            <c:extLst>
              <c:ext xmlns:c16="http://schemas.microsoft.com/office/drawing/2014/chart" uri="{C3380CC4-5D6E-409C-BE32-E72D297353CC}">
                <c16:uniqueId val="{00000001-9F06-4F16-99FD-9C54F60E7906}"/>
              </c:ext>
            </c:extLst>
          </c:dPt>
          <c:dPt>
            <c:idx val="1"/>
            <c:bubble3D val="0"/>
            <c:spPr>
              <a:solidFill>
                <a:srgbClr val="92969E"/>
              </a:solidFill>
            </c:spPr>
            <c:extLst>
              <c:ext xmlns:c16="http://schemas.microsoft.com/office/drawing/2014/chart" uri="{C3380CC4-5D6E-409C-BE32-E72D297353CC}">
                <c16:uniqueId val="{00000003-9F06-4F16-99FD-9C54F60E790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625">
                    <a:solidFill>
                      <a:srgbClr val="FFFFFF"/>
                    </a:solidFill>
                    <a:latin typeface="思源黑体 2"/>
                    <a:ea typeface="思源黑体 2"/>
                    <a:cs typeface="思源黑体 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'Chart Data'!$A$2:$A$3</c:f>
              <c:strCache>
                <c:ptCount val="2"/>
                <c:pt idx="0">
                  <c:v>高：1</c:v>
                </c:pt>
                <c:pt idx="1">
                  <c:v>中：2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F06-4F16-99FD-9C54F60E79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</c:spPr>
    </c:plotArea>
    <c:legend>
      <c:legendPos val="b"/>
      <c:overlay val="0"/>
      <c:txPr>
        <a:bodyPr anchorCtr="1"/>
        <a:lstStyle/>
        <a:p>
          <a:pPr>
            <a:defRPr sz="2250">
              <a:latin typeface="思源黑体 2"/>
              <a:ea typeface="思源黑体 2"/>
              <a:cs typeface="思源黑体 2"/>
            </a:defRPr>
          </a:pPr>
          <a:endParaRPr lang="zh-CN"/>
        </a:p>
      </c:txPr>
    </c:legend>
    <c:plotVisOnly val="1"/>
    <c:dispBlanksAs val="zero"/>
    <c:showDLblsOverMax val="1"/>
  </c:chart>
  <c:spPr>
    <a:noFill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首轮通过</c:v>
          </c:tx>
          <c:spPr>
            <a:solidFill>
              <a:srgbClr val="92969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>
                    <a:latin typeface="思源黑体 2"/>
                    <a:ea typeface="思源黑体 2"/>
                    <a:cs typeface="思源黑体 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视频切分</c:v>
                </c:pt>
                <c:pt idx="1">
                  <c:v>数据转换</c:v>
                </c:pt>
                <c:pt idx="2">
                  <c:v>结果评估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E93-4846-9500-943575B2895F}"/>
            </c:ext>
          </c:extLst>
        </c:ser>
        <c:ser>
          <c:idx val="1"/>
          <c:order val="1"/>
          <c:tx>
            <c:v>回归通过</c:v>
          </c:tx>
          <c:spPr>
            <a:solidFill>
              <a:srgbClr val="44484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>
                    <a:latin typeface="思源黑体 2"/>
                    <a:ea typeface="思源黑体 2"/>
                    <a:cs typeface="思源黑体 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视频切分</c:v>
                </c:pt>
                <c:pt idx="1">
                  <c:v>数据转换</c:v>
                </c:pt>
                <c:pt idx="2">
                  <c:v>结果评估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7</c:v>
                </c:pt>
                <c:pt idx="1">
                  <c:v>8</c:v>
                </c:pt>
                <c:pt idx="2">
                  <c:v>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E93-4846-9500-943575B289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100">
                <a:solidFill>
                  <a:srgbClr val="666666"/>
                </a:solidFill>
                <a:latin typeface="思源黑体 2"/>
                <a:ea typeface="思源黑体 2"/>
                <a:cs typeface="思源黑体 2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思源黑体 2"/>
                <a:ea typeface="思源黑体 2"/>
                <a:cs typeface="思源黑体 2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2025">
              <a:latin typeface="思源黑体 2"/>
              <a:ea typeface="思源黑体 2"/>
              <a:cs typeface="思源黑体 2"/>
            </a:defRPr>
          </a:pPr>
          <a:endParaRPr lang="zh-CN"/>
        </a:p>
      </c:txPr>
    </c:legend>
    <c:plotVisOnly val="1"/>
    <c:dispBlanksAs val="zero"/>
    <c:showDLblsOverMax val="1"/>
  </c:chart>
  <c:spPr>
    <a:noFill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EA71-12D6-4A5B-95D0-92E8BF8C2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48133-103C-44C9-86EE-2F4FC3ACC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32B25-2991-4561-84B5-02DFF5D4B8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BD168-E05B-4190-A36B-50C3A4D143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264EC-5CD3-40B9-ADA7-8532FE80CB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BB3D-DCFB-4263-85C2-2A0D42D8B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D684B-D8B0-4456-9B56-E20D7565A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A9621-CC8F-4FD1-A8BB-79F85321E6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1AA43-4F0D-483C-B9DC-00623A4CB7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C82D8-2EC0-4D61-809B-B9B56B670A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A10D-6B69-4BD6-B8F4-ACCA3494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96B03-9F5B-47F5-BB87-7270EEDD9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D5222-1CFA-4B42-ABB9-D2E9D1AB4A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0B579-CAC2-41D0-BC77-F300A4983A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61820-662F-47B6-A11A-9D9C5480CB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EC008-4598-408A-A2EA-6052EBAE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B2443-E71E-48D5-9922-997A45C82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5530A-2C94-4025-B4E5-A4BD705E81C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6A390-C482-49BD-A2D8-7B0D2FF663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61AD3-FF2E-464B-B3CB-5B4BE0AC2C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D48E6-8045-46D4-B998-673C91C8F2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0A77-32BD-400D-8342-B47F8C1D3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1E7A9-6A87-4C20-879E-01CBDE42A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7ADE3-BA29-4F84-ABDB-1591688C554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B0ED2-A2C2-4E82-AE3B-263F5D70F26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E5B66-1ABE-431D-A1B4-072ACE7239E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31FA9B-C2EE-402E-847F-1711C10797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C72A99-BF48-4404-B47C-44F252FF0A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5D493-479F-4E44-91C5-899637BD44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6B17-03E1-4C56-9476-A256D2A0A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B0B283-2F2E-4AE8-916E-AEA5C527D1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BB314-723A-443D-98CD-0B153A9B0F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5896C-22C8-4996-91EA-6647E10AB6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30A8EC-0DD4-4509-AC06-0ABA5F138B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E8A83-4804-491C-93EF-44DA1E1E39E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62333-FFE4-4CD6-92FC-940082516A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94D42-494F-49F1-9F3E-AEB62F3DB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A7C4D-7582-4DC6-B8D1-100647416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6052F-019D-4B5B-9FFB-CDB5B4D7023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96462-0016-4243-B865-90C2D6CDB3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3BB71-5DC4-4D36-BD2E-73A697B873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DBFFE-8D00-485C-9E8C-B66CD90BB0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E8A6-1EC8-4C26-837C-E072D617E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B342C7-FAA7-426B-AF72-97AA6D77E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77C31-707B-4B01-B46A-3A2136FE4D5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D5D07-8780-4F73-8154-57F89AEB8C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6C0B5-36D5-414D-9E9B-B98C8E8896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231A2-3F8E-40EB-9770-CFC70A3658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883AA-18B7-46A9-9F69-A8C35504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F4060-6136-45E3-ADD5-5CD109A85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33983-87CF-4F5D-BAFB-D2E3DC1D62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F8990-E016-4875-83F2-08A45976D3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20874-1FE5-4C1A-A387-5D91033DA7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F5CF14-DC0E-43A0-9C08-E3C51EEC8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3F13C-35A8-444D-8B96-594DD9884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2E9B5-AABD-4232-9683-FF9AE5BEC8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A5A45-8F82-45C2-8F60-3E02070692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4CA4E-61BB-4770-A1AF-6087412709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8DE3DC-50F6-49A9-AA1D-3A2954048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D1C8E-F9D7-423E-95B3-F578D8A83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3953F-CA1C-4089-A3FB-B3A8F7B24D9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0F0D4-7E6A-4C08-8912-AAFE3104C9D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F0444-255E-4535-8C73-0FC3EDF25F4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sciinema.org/a/V4HAsx4PLMfS75hi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19"/>
          <p:cNvPicPr>
            <a:picLocks noChangeAspect="1"/>
          </p:cNvPicPr>
          <p:nvPr/>
        </p:nvPicPr>
        <p:blipFill>
          <a:blip r:embed="rId3">
            <a:alphaModFix amt="20000"/>
            <a:grayscl/>
          </a:blip>
          <a:srcRect l="8143" t="4388" r="9410" b="4577"/>
          <a:stretch>
            <a:fillRect/>
          </a:stretch>
        </p:blipFill>
        <p:spPr>
          <a:xfrm>
            <a:off x="2514600" y="2095500"/>
            <a:ext cx="4557395" cy="4557395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C2D3451C-A19F-4186-8039-5A5390F700F8}"/>
              </a:ext>
            </a:extLst>
          </p:cNvPr>
          <p:cNvSpPr>
            <a:spLocks noGrp="1"/>
          </p:cNvSpPr>
          <p:nvPr/>
        </p:nvSpPr>
        <p:spPr>
          <a:xfrm rot="2856797">
            <a:off x="501806" y="3981805"/>
            <a:ext cx="12457058" cy="11040067"/>
          </a:xfrm>
          <a:custGeom>
            <a:avLst/>
            <a:gdLst/>
            <a:ahLst/>
            <a:cxnLst/>
            <a:rect l="l" t="t" r="r" b="b"/>
            <a:pathLst>
              <a:path w="12457058" h="11040067">
                <a:moveTo>
                  <a:pt x="0" y="0"/>
                </a:moveTo>
                <a:lnTo>
                  <a:pt x="12457058" y="0"/>
                </a:lnTo>
                <a:lnTo>
                  <a:pt x="12457058" y="11040067"/>
                </a:lnTo>
                <a:lnTo>
                  <a:pt x="0" y="11040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924ADFE-65C2-456D-8D5E-62B0C5333212}"/>
              </a:ext>
            </a:extLst>
          </p:cNvPr>
          <p:cNvSpPr>
            <a:spLocks noGrp="1"/>
          </p:cNvSpPr>
          <p:nvPr/>
        </p:nvSpPr>
        <p:spPr>
          <a:xfrm>
            <a:off x="9898933" y="3643818"/>
            <a:ext cx="9404868" cy="8335064"/>
          </a:xfrm>
          <a:custGeom>
            <a:avLst/>
            <a:gdLst/>
            <a:ahLst/>
            <a:cxnLst/>
            <a:rect l="l" t="t" r="r" b="b"/>
            <a:pathLst>
              <a:path w="9404868" h="8335064">
                <a:moveTo>
                  <a:pt x="0" y="0"/>
                </a:moveTo>
                <a:lnTo>
                  <a:pt x="9404868" y="0"/>
                </a:lnTo>
                <a:lnTo>
                  <a:pt x="9404868" y="8335064"/>
                </a:lnTo>
                <a:lnTo>
                  <a:pt x="0" y="83350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A1834C-AE99-4EA8-80EE-CE20FFBF2BFD}"/>
              </a:ext>
            </a:extLst>
          </p:cNvPr>
          <p:cNvSpPr>
            <a:spLocks noGrp="1"/>
          </p:cNvSpPr>
          <p:nvPr/>
        </p:nvSpPr>
        <p:spPr>
          <a:xfrm rot="1847318">
            <a:off x="8106763" y="4841146"/>
            <a:ext cx="10177663" cy="9019954"/>
          </a:xfrm>
          <a:custGeom>
            <a:avLst/>
            <a:gdLst/>
            <a:ahLst/>
            <a:cxnLst/>
            <a:rect l="l" t="t" r="r" b="b"/>
            <a:pathLst>
              <a:path w="10177663" h="9019954">
                <a:moveTo>
                  <a:pt x="0" y="0"/>
                </a:moveTo>
                <a:lnTo>
                  <a:pt x="10177664" y="0"/>
                </a:lnTo>
                <a:lnTo>
                  <a:pt x="10177664" y="9019954"/>
                </a:lnTo>
                <a:lnTo>
                  <a:pt x="0" y="9019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52FC917-235A-4F99-8DDC-5F8406F30EFA}"/>
              </a:ext>
            </a:extLst>
          </p:cNvPr>
          <p:cNvSpPr>
            <a:spLocks noGrp="1"/>
          </p:cNvSpPr>
          <p:nvPr/>
        </p:nvSpPr>
        <p:spPr>
          <a:xfrm>
            <a:off x="1436543" y="5930018"/>
            <a:ext cx="599057" cy="59905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29235" y="0"/>
                </a:moveTo>
                <a:lnTo>
                  <a:pt x="683565" y="0"/>
                </a:lnTo>
                <a:cubicBezTo>
                  <a:pt x="717840" y="0"/>
                  <a:pt x="750712" y="13616"/>
                  <a:pt x="774948" y="37852"/>
                </a:cubicBezTo>
                <a:cubicBezTo>
                  <a:pt x="799184" y="62088"/>
                  <a:pt x="812800" y="94960"/>
                  <a:pt x="812800" y="129235"/>
                </a:cubicBezTo>
                <a:lnTo>
                  <a:pt x="812800" y="683565"/>
                </a:lnTo>
                <a:cubicBezTo>
                  <a:pt x="812800" y="717840"/>
                  <a:pt x="799184" y="750712"/>
                  <a:pt x="774948" y="774948"/>
                </a:cubicBezTo>
                <a:cubicBezTo>
                  <a:pt x="750712" y="799184"/>
                  <a:pt x="717840" y="812800"/>
                  <a:pt x="683565" y="812800"/>
                </a:cubicBezTo>
                <a:lnTo>
                  <a:pt x="129235" y="812800"/>
                </a:lnTo>
                <a:cubicBezTo>
                  <a:pt x="57861" y="812800"/>
                  <a:pt x="0" y="754939"/>
                  <a:pt x="0" y="683565"/>
                </a:cubicBezTo>
                <a:lnTo>
                  <a:pt x="0" y="129235"/>
                </a:lnTo>
                <a:cubicBezTo>
                  <a:pt x="0" y="57861"/>
                  <a:pt x="57861" y="0"/>
                  <a:pt x="129235" y="0"/>
                </a:cubicBezTo>
                <a:close/>
              </a:path>
            </a:pathLst>
          </a:custGeom>
          <a:solidFill>
            <a:srgbClr val="5C6065"/>
          </a:solid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2B93D72-A49B-44EE-86D1-CB5A20AA0D3E}"/>
              </a:ext>
            </a:extLst>
          </p:cNvPr>
          <p:cNvSpPr>
            <a:spLocks noGrp="1"/>
          </p:cNvSpPr>
          <p:nvPr/>
        </p:nvSpPr>
        <p:spPr>
          <a:xfrm>
            <a:off x="1436543" y="5894918"/>
            <a:ext cx="599057" cy="63415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210"/>
              </a:lnSpc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D27ECAD-65C5-45D0-BFBB-348D624FE800}"/>
              </a:ext>
            </a:extLst>
          </p:cNvPr>
          <p:cNvSpPr>
            <a:spLocks noGrp="1"/>
          </p:cNvSpPr>
          <p:nvPr/>
        </p:nvSpPr>
        <p:spPr>
          <a:xfrm>
            <a:off x="1583296" y="6066804"/>
            <a:ext cx="305550" cy="325486"/>
          </a:xfrm>
          <a:custGeom>
            <a:avLst/>
            <a:gdLst/>
            <a:ahLst/>
            <a:cxnLst/>
            <a:rect l="l" t="t" r="r" b="b"/>
            <a:pathLst>
              <a:path w="305550" h="325486">
                <a:moveTo>
                  <a:pt x="0" y="0"/>
                </a:moveTo>
                <a:lnTo>
                  <a:pt x="305550" y="0"/>
                </a:lnTo>
                <a:lnTo>
                  <a:pt x="305550" y="325485"/>
                </a:lnTo>
                <a:lnTo>
                  <a:pt x="0" y="3254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B3FA899-AEF0-4878-9CC6-DA364104F5F7}"/>
              </a:ext>
            </a:extLst>
          </p:cNvPr>
          <p:cNvSpPr>
            <a:spLocks noGrp="1"/>
          </p:cNvSpPr>
          <p:nvPr/>
        </p:nvSpPr>
        <p:spPr>
          <a:xfrm>
            <a:off x="4931058" y="5930018"/>
            <a:ext cx="599057" cy="59905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29235" y="0"/>
                </a:moveTo>
                <a:lnTo>
                  <a:pt x="683565" y="0"/>
                </a:lnTo>
                <a:cubicBezTo>
                  <a:pt x="717840" y="0"/>
                  <a:pt x="750712" y="13616"/>
                  <a:pt x="774948" y="37852"/>
                </a:cubicBezTo>
                <a:cubicBezTo>
                  <a:pt x="799184" y="62088"/>
                  <a:pt x="812800" y="94960"/>
                  <a:pt x="812800" y="129235"/>
                </a:cubicBezTo>
                <a:lnTo>
                  <a:pt x="812800" y="683565"/>
                </a:lnTo>
                <a:cubicBezTo>
                  <a:pt x="812800" y="717840"/>
                  <a:pt x="799184" y="750712"/>
                  <a:pt x="774948" y="774948"/>
                </a:cubicBezTo>
                <a:cubicBezTo>
                  <a:pt x="750712" y="799184"/>
                  <a:pt x="717840" y="812800"/>
                  <a:pt x="683565" y="812800"/>
                </a:cubicBezTo>
                <a:lnTo>
                  <a:pt x="129235" y="812800"/>
                </a:lnTo>
                <a:cubicBezTo>
                  <a:pt x="57861" y="812800"/>
                  <a:pt x="0" y="754939"/>
                  <a:pt x="0" y="683565"/>
                </a:cubicBezTo>
                <a:lnTo>
                  <a:pt x="0" y="129235"/>
                </a:lnTo>
                <a:cubicBezTo>
                  <a:pt x="0" y="57861"/>
                  <a:pt x="57861" y="0"/>
                  <a:pt x="129235" y="0"/>
                </a:cubicBezTo>
                <a:close/>
              </a:path>
            </a:pathLst>
          </a:custGeom>
          <a:solidFill>
            <a:srgbClr val="91949C"/>
          </a:solid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F3660B2-B496-475F-9416-3AC770ADA3E3}"/>
              </a:ext>
            </a:extLst>
          </p:cNvPr>
          <p:cNvSpPr>
            <a:spLocks noGrp="1"/>
          </p:cNvSpPr>
          <p:nvPr/>
        </p:nvSpPr>
        <p:spPr>
          <a:xfrm>
            <a:off x="4931058" y="5894918"/>
            <a:ext cx="599057" cy="63415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210"/>
              </a:lnSpc>
              <a:buNone/>
            </a:pPr>
            <a:endParaRPr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B25B421-E619-4842-83ED-EE41793F04D8}"/>
              </a:ext>
            </a:extLst>
          </p:cNvPr>
          <p:cNvSpPr>
            <a:spLocks noGrp="1"/>
          </p:cNvSpPr>
          <p:nvPr/>
        </p:nvSpPr>
        <p:spPr>
          <a:xfrm>
            <a:off x="5077812" y="6066804"/>
            <a:ext cx="305550" cy="325486"/>
          </a:xfrm>
          <a:custGeom>
            <a:avLst/>
            <a:gdLst/>
            <a:ahLst/>
            <a:cxnLst/>
            <a:rect l="l" t="t" r="r" b="b"/>
            <a:pathLst>
              <a:path w="305550" h="325486">
                <a:moveTo>
                  <a:pt x="0" y="0"/>
                </a:moveTo>
                <a:lnTo>
                  <a:pt x="305550" y="0"/>
                </a:lnTo>
                <a:lnTo>
                  <a:pt x="305550" y="325485"/>
                </a:lnTo>
                <a:lnTo>
                  <a:pt x="0" y="3254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E4B7B8B-19D7-4BF8-A541-9169411D4FAB}"/>
              </a:ext>
            </a:extLst>
          </p:cNvPr>
          <p:cNvSpPr>
            <a:spLocks noGrp="1"/>
          </p:cNvSpPr>
          <p:nvPr/>
        </p:nvSpPr>
        <p:spPr>
          <a:xfrm>
            <a:off x="299717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8" y="0"/>
                </a:lnTo>
                <a:lnTo>
                  <a:pt x="3178258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37" t="-1274" r="-637"/>
            </a:stretch>
          </a:blipFill>
        </p:spPr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E020E47-330A-4A48-AEF4-3EB2EDAC85BE}"/>
              </a:ext>
            </a:extLst>
          </p:cNvPr>
          <p:cNvSpPr>
            <a:spLocks noGrp="1"/>
          </p:cNvSpPr>
          <p:nvPr/>
        </p:nvSpPr>
        <p:spPr>
          <a:xfrm>
            <a:off x="1428750" y="3524250"/>
            <a:ext cx="15240000" cy="193421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  <a:defRPr sz="9000"/>
            </a:pPr>
            <a:r>
              <a:rPr sz="9000" b="1">
                <a:solidFill>
                  <a:srgbClr val="1E1E1E"/>
                </a:solidFill>
                <a:latin typeface="思源黑体 1 Bold"/>
                <a:ea typeface="思源黑体 1 Bold"/>
                <a:cs typeface="思源黑体 1 Bold"/>
              </a:rPr>
              <a:t>EgoBlind 功能测试</a:t>
            </a:r>
            <a:endParaRPr sz="10955" b="1">
              <a:solidFill>
                <a:srgbClr val="1E1E1E"/>
              </a:solidFill>
              <a:latin typeface="思源黑体 1 Bold"/>
              <a:ea typeface="思源黑体 1 Bold"/>
              <a:cs typeface="思源黑体 1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9A43524-1665-4597-AA02-2EED64580D71}"/>
              </a:ext>
            </a:extLst>
          </p:cNvPr>
          <p:cNvSpPr>
            <a:spLocks noGrp="1"/>
          </p:cNvSpPr>
          <p:nvPr/>
        </p:nvSpPr>
        <p:spPr>
          <a:xfrm>
            <a:off x="2209800" y="6000750"/>
            <a:ext cx="2667000" cy="4762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  <a:defRPr sz="2250"/>
            </a:pPr>
            <a:r>
              <a:rPr sz="2250">
                <a:solidFill>
                  <a:srgbClr val="1E1E1E"/>
                </a:solidFill>
                <a:latin typeface="思源黑体 1"/>
                <a:ea typeface="思源黑体 1"/>
                <a:cs typeface="思源黑体 1"/>
              </a:rPr>
              <a:t>邱豪、王渤</a:t>
            </a:r>
            <a:endParaRPr sz="2220">
              <a:solidFill>
                <a:srgbClr val="1E1E1E"/>
              </a:solidFill>
              <a:latin typeface="思源黑体 1"/>
              <a:ea typeface="思源黑体 1"/>
              <a:cs typeface="思源黑体 1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4D813B9-5210-4FBA-B78C-F8170CD7FE6F}"/>
              </a:ext>
            </a:extLst>
          </p:cNvPr>
          <p:cNvSpPr>
            <a:spLocks noGrp="1"/>
          </p:cNvSpPr>
          <p:nvPr/>
        </p:nvSpPr>
        <p:spPr>
          <a:xfrm>
            <a:off x="5715000" y="6000750"/>
            <a:ext cx="3810000" cy="4762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  <a:defRPr sz="2250"/>
            </a:pPr>
            <a:r>
              <a:rPr sz="2250">
                <a:solidFill>
                  <a:srgbClr val="1E1E1E"/>
                </a:solidFill>
                <a:latin typeface="思源黑体 1"/>
                <a:ea typeface="思源黑体 1"/>
                <a:cs typeface="思源黑体 1"/>
              </a:rPr>
              <a:t>2026 年 9 月</a:t>
            </a:r>
            <a:endParaRPr sz="2220">
              <a:solidFill>
                <a:srgbClr val="1E1E1E"/>
              </a:solidFill>
              <a:latin typeface="思源黑体 1"/>
              <a:ea typeface="思源黑体 1"/>
              <a:cs typeface="思源黑体 1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3796698-0965-42C9-B2D0-0E9C910EA2D7}"/>
              </a:ext>
            </a:extLst>
          </p:cNvPr>
          <p:cNvSpPr>
            <a:spLocks noGrp="1"/>
          </p:cNvSpPr>
          <p:nvPr/>
        </p:nvSpPr>
        <p:spPr>
          <a:xfrm>
            <a:off x="12882599" y="858203"/>
            <a:ext cx="4247486" cy="3219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r">
              <a:lnSpc>
                <a:spcPts val="2640"/>
              </a:lnSpc>
              <a:buNone/>
            </a:pPr>
            <a:r>
              <a:rPr sz="2000" spc="196">
                <a:solidFill>
                  <a:srgbClr val="5C6065"/>
                </a:solidFill>
                <a:latin typeface="思源黑体 1"/>
                <a:ea typeface="思源黑体 1"/>
                <a:cs typeface="思源黑体 1"/>
              </a:rPr>
              <a:t>华中科技大学软件学院</a:t>
            </a:r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9DECD53D-8428-49D5-9682-A94C901F311E}"/>
              </a:ext>
            </a:extLst>
          </p:cNvPr>
          <p:cNvSpPr>
            <a:spLocks noGrp="1"/>
          </p:cNvSpPr>
          <p:nvPr/>
        </p:nvSpPr>
        <p:spPr>
          <a:xfrm>
            <a:off x="4579622" y="6939871"/>
            <a:ext cx="13708378" cy="3347129"/>
          </a:xfrm>
          <a:custGeom>
            <a:avLst/>
            <a:gdLst/>
            <a:ahLst/>
            <a:cxnLst/>
            <a:rect l="l" t="t" r="r" b="b"/>
            <a:pathLst>
              <a:path w="13708378" h="3347129">
                <a:moveTo>
                  <a:pt x="0" y="0"/>
                </a:moveTo>
                <a:lnTo>
                  <a:pt x="13708378" y="0"/>
                </a:lnTo>
                <a:lnTo>
                  <a:pt x="13708378" y="3347129"/>
                </a:lnTo>
                <a:lnTo>
                  <a:pt x="0" y="33471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05393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被测对象">
            <a:extLst>
              <a:ext uri="{FF2B5EF4-FFF2-40B4-BE49-F238E27FC236}">
                <a16:creationId xmlns:a16="http://schemas.microsoft.com/office/drawing/2014/main" id="{C5DBA246-6346-4E3F-BADC-76B5ADB886D6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被测对象</a:t>
            </a:r>
          </a:p>
        </p:txBody>
      </p:sp>
      <p:sp>
        <p:nvSpPr>
          <p:cNvPr id="17" name="02">
            <a:extLst>
              <a:ext uri="{FF2B5EF4-FFF2-40B4-BE49-F238E27FC236}">
                <a16:creationId xmlns:a16="http://schemas.microsoft.com/office/drawing/2014/main" id="{1A5F1FBA-9C45-4661-BD55-C28F4B2E56A0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02</a:t>
            </a:r>
          </a:p>
        </p:txBody>
      </p:sp>
      <p:sp>
        <p:nvSpPr>
          <p:cNvPr id="18" name="面向盲人视觉辅助的视频问答&#10;数据集与配套研究">
            <a:extLst>
              <a:ext uri="{FF2B5EF4-FFF2-40B4-BE49-F238E27FC236}">
                <a16:creationId xmlns:a16="http://schemas.microsoft.com/office/drawing/2014/main" id="{90FAA37D-0343-4F68-8991-CEF3FED5F76B}"/>
              </a:ext>
            </a:extLst>
          </p:cNvPr>
          <p:cNvSpPr>
            <a:spLocks noGrp="1"/>
          </p:cNvSpPr>
          <p:nvPr/>
        </p:nvSpPr>
        <p:spPr>
          <a:xfrm>
            <a:off x="1659760" y="2994199"/>
            <a:ext cx="5864761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15000"/>
              </a:lnSpc>
              <a:buNone/>
              <a:def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面向盲人视觉辅助场景的视频问答数据处理与模型评估系统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2B5390-007F-484B-933B-AADD5D4B662C}"/>
              </a:ext>
            </a:extLst>
          </p:cNvPr>
          <p:cNvSpPr>
            <a:spLocks noGrp="1"/>
          </p:cNvSpPr>
          <p:nvPr/>
        </p:nvSpPr>
        <p:spPr>
          <a:xfrm>
            <a:off x="1476375" y="5905500"/>
            <a:ext cx="342900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2" name="视频切分">
            <a:extLst>
              <a:ext uri="{FF2B5EF4-FFF2-40B4-BE49-F238E27FC236}">
                <a16:creationId xmlns:a16="http://schemas.microsoft.com/office/drawing/2014/main" id="{4E5CD190-C132-4636-A8E5-5AB11305089A}"/>
              </a:ext>
            </a:extLst>
          </p:cNvPr>
          <p:cNvSpPr>
            <a:spLocks noGrp="1"/>
          </p:cNvSpPr>
          <p:nvPr/>
        </p:nvSpPr>
        <p:spPr>
          <a:xfrm>
            <a:off x="1571625" y="5905500"/>
            <a:ext cx="3238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视频切分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1D596A08-0193-403E-B860-042F90832469}"/>
              </a:ext>
            </a:extLst>
          </p:cNvPr>
          <p:cNvSpPr>
            <a:spLocks noGrp="1"/>
          </p:cNvSpPr>
          <p:nvPr/>
        </p:nvSpPr>
        <p:spPr>
          <a:xfrm>
            <a:off x="5029200" y="6286500"/>
            <a:ext cx="228600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CC11F-9610-404F-B238-4B42768CA898}"/>
              </a:ext>
            </a:extLst>
          </p:cNvPr>
          <p:cNvSpPr>
            <a:spLocks noGrp="1"/>
          </p:cNvSpPr>
          <p:nvPr/>
        </p:nvSpPr>
        <p:spPr>
          <a:xfrm>
            <a:off x="5381625" y="5905500"/>
            <a:ext cx="342900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5" name="数据转换">
            <a:extLst>
              <a:ext uri="{FF2B5EF4-FFF2-40B4-BE49-F238E27FC236}">
                <a16:creationId xmlns:a16="http://schemas.microsoft.com/office/drawing/2014/main" id="{3F365B6C-8783-4C09-A836-07D78B265F61}"/>
              </a:ext>
            </a:extLst>
          </p:cNvPr>
          <p:cNvSpPr>
            <a:spLocks noGrp="1"/>
          </p:cNvSpPr>
          <p:nvPr/>
        </p:nvSpPr>
        <p:spPr>
          <a:xfrm>
            <a:off x="5476875" y="5905500"/>
            <a:ext cx="3238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数据转换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1683EA1B-8DF8-4EB5-A785-22779FFC40F6}"/>
              </a:ext>
            </a:extLst>
          </p:cNvPr>
          <p:cNvSpPr>
            <a:spLocks noGrp="1"/>
          </p:cNvSpPr>
          <p:nvPr/>
        </p:nvSpPr>
        <p:spPr>
          <a:xfrm>
            <a:off x="8934450" y="6286500"/>
            <a:ext cx="228600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58C18C8-EC74-4D8A-BAAD-2694CECE24E5}"/>
              </a:ext>
            </a:extLst>
          </p:cNvPr>
          <p:cNvSpPr>
            <a:spLocks noGrp="1"/>
          </p:cNvSpPr>
          <p:nvPr/>
        </p:nvSpPr>
        <p:spPr>
          <a:xfrm>
            <a:off x="9286875" y="5905500"/>
            <a:ext cx="3429000" cy="1000125"/>
          </a:xfrm>
          <a:prstGeom prst="rect">
            <a:avLst/>
          </a:prstGeom>
          <a:solidFill>
            <a:srgbClr val="D6D8DB"/>
          </a:solidFill>
          <a:ln w="0">
            <a:noFill/>
          </a:ln>
        </p:spPr>
      </p:sp>
      <p:sp>
        <p:nvSpPr>
          <p:cNvPr id="28" name="模型微调">
            <a:extLst>
              <a:ext uri="{FF2B5EF4-FFF2-40B4-BE49-F238E27FC236}">
                <a16:creationId xmlns:a16="http://schemas.microsoft.com/office/drawing/2014/main" id="{A7B624DF-3C64-469D-A01E-DC2447D2A5C7}"/>
              </a:ext>
            </a:extLst>
          </p:cNvPr>
          <p:cNvSpPr>
            <a:spLocks noGrp="1"/>
          </p:cNvSpPr>
          <p:nvPr/>
        </p:nvSpPr>
        <p:spPr>
          <a:xfrm>
            <a:off x="9382125" y="5905500"/>
            <a:ext cx="3238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模型微调</a:t>
            </a: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8EE0C237-513D-4E41-B5F0-7FD69B7D9DB7}"/>
              </a:ext>
            </a:extLst>
          </p:cNvPr>
          <p:cNvSpPr>
            <a:spLocks noGrp="1"/>
          </p:cNvSpPr>
          <p:nvPr/>
        </p:nvSpPr>
        <p:spPr>
          <a:xfrm>
            <a:off x="12839700" y="6286500"/>
            <a:ext cx="228600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4FC13B-D220-4809-A88A-175F73C8FEA9}"/>
              </a:ext>
            </a:extLst>
          </p:cNvPr>
          <p:cNvSpPr>
            <a:spLocks noGrp="1"/>
          </p:cNvSpPr>
          <p:nvPr/>
        </p:nvSpPr>
        <p:spPr>
          <a:xfrm>
            <a:off x="13192125" y="5905500"/>
            <a:ext cx="342900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31" name="结果评估">
            <a:extLst>
              <a:ext uri="{FF2B5EF4-FFF2-40B4-BE49-F238E27FC236}">
                <a16:creationId xmlns:a16="http://schemas.microsoft.com/office/drawing/2014/main" id="{E692F216-2D9C-47B1-BBE9-5A89A310BC20}"/>
              </a:ext>
            </a:extLst>
          </p:cNvPr>
          <p:cNvSpPr>
            <a:spLocks noGrp="1"/>
          </p:cNvSpPr>
          <p:nvPr/>
        </p:nvSpPr>
        <p:spPr>
          <a:xfrm>
            <a:off x="13287375" y="5905500"/>
            <a:ext cx="3238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结果评估</a:t>
            </a:r>
          </a:p>
        </p:txBody>
      </p:sp>
      <p:sp>
        <p:nvSpPr>
          <p:cNvPr id="32" name="选中模块">
            <a:extLst>
              <a:ext uri="{FF2B5EF4-FFF2-40B4-BE49-F238E27FC236}">
                <a16:creationId xmlns:a16="http://schemas.microsoft.com/office/drawing/2014/main" id="{D3FB9854-247A-424D-A21F-289B6E20DBB5}"/>
              </a:ext>
            </a:extLst>
          </p:cNvPr>
          <p:cNvSpPr>
            <a:spLocks noGrp="1"/>
          </p:cNvSpPr>
          <p:nvPr/>
        </p:nvSpPr>
        <p:spPr>
          <a:xfrm>
            <a:off x="1476375" y="7143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选中模块</a:t>
            </a:r>
          </a:p>
        </p:txBody>
      </p:sp>
      <p:sp>
        <p:nvSpPr>
          <p:cNvPr id="33" name="选中模块">
            <a:extLst>
              <a:ext uri="{FF2B5EF4-FFF2-40B4-BE49-F238E27FC236}">
                <a16:creationId xmlns:a16="http://schemas.microsoft.com/office/drawing/2014/main" id="{5ADA804D-3C79-4529-BF31-FFB20D7C6546}"/>
              </a:ext>
            </a:extLst>
          </p:cNvPr>
          <p:cNvSpPr>
            <a:spLocks noGrp="1"/>
          </p:cNvSpPr>
          <p:nvPr/>
        </p:nvSpPr>
        <p:spPr>
          <a:xfrm>
            <a:off x="5381625" y="7143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选中模块</a:t>
            </a:r>
          </a:p>
        </p:txBody>
      </p:sp>
      <p:sp>
        <p:nvSpPr>
          <p:cNvPr id="34" name="本次不测">
            <a:extLst>
              <a:ext uri="{FF2B5EF4-FFF2-40B4-BE49-F238E27FC236}">
                <a16:creationId xmlns:a16="http://schemas.microsoft.com/office/drawing/2014/main" id="{E84F22AA-7B56-40EF-8DFD-7E5A186A8CF8}"/>
              </a:ext>
            </a:extLst>
          </p:cNvPr>
          <p:cNvSpPr>
            <a:spLocks noGrp="1"/>
          </p:cNvSpPr>
          <p:nvPr/>
        </p:nvSpPr>
        <p:spPr>
          <a:xfrm>
            <a:off x="9286875" y="7143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 b="0" dirty="0" err="1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本次不测</a:t>
            </a:r>
            <a:endParaRPr sz="2250" b="0" dirty="0">
              <a:solidFill>
                <a:srgbClr val="92969E"/>
              </a:solidFill>
              <a:latin typeface="思源黑体 2"/>
              <a:ea typeface="思源黑体 2"/>
              <a:cs typeface="思源黑体 2"/>
            </a:endParaRPr>
          </a:p>
        </p:txBody>
      </p:sp>
      <p:sp>
        <p:nvSpPr>
          <p:cNvPr id="35" name="选中模块">
            <a:extLst>
              <a:ext uri="{FF2B5EF4-FFF2-40B4-BE49-F238E27FC236}">
                <a16:creationId xmlns:a16="http://schemas.microsoft.com/office/drawing/2014/main" id="{FF0EEB18-F80D-47FC-914C-69B8908699C1}"/>
              </a:ext>
            </a:extLst>
          </p:cNvPr>
          <p:cNvSpPr>
            <a:spLocks noGrp="1"/>
          </p:cNvSpPr>
          <p:nvPr/>
        </p:nvSpPr>
        <p:spPr>
          <a:xfrm>
            <a:off x="13192125" y="7143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选中模块</a:t>
            </a:r>
          </a:p>
        </p:txBody>
      </p:sp>
      <p:sp>
        <p:nvSpPr>
          <p:cNvPr id="36" name="video_split.py&#10;片段时长、音频">
            <a:extLst>
              <a:ext uri="{FF2B5EF4-FFF2-40B4-BE49-F238E27FC236}">
                <a16:creationId xmlns:a16="http://schemas.microsoft.com/office/drawing/2014/main" id="{2AC1F914-84EC-44E6-BA06-5E547289E911}"/>
              </a:ext>
            </a:extLst>
          </p:cNvPr>
          <p:cNvSpPr>
            <a:spLocks noGrp="1"/>
          </p:cNvSpPr>
          <p:nvPr/>
        </p:nvSpPr>
        <p:spPr>
          <a:xfrm>
            <a:off x="1476375" y="7810500"/>
            <a:ext cx="3524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video_split.py</a:t>
            </a:r>
          </a:p>
          <a:p>
            <a:pPr algn="ctr">
              <a:lnSpc>
                <a:spcPct val="115000"/>
              </a:lnSpc>
              <a:buNone/>
              <a:def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视频切分</a:t>
            </a:r>
            <a:endParaRPr sz="2250" b="0">
              <a:solidFill>
                <a:srgbClr val="44484C"/>
              </a:solidFill>
              <a:latin typeface="思源黑体 2"/>
              <a:ea typeface="思源黑体 2"/>
              <a:cs typeface="思源黑体 2"/>
            </a:endParaRPr>
          </a:p>
        </p:txBody>
      </p:sp>
      <p:sp>
        <p:nvSpPr>
          <p:cNvPr id="37" name="convert.py&#10;JSON / JSON">
            <a:extLst>
              <a:ext uri="{FF2B5EF4-FFF2-40B4-BE49-F238E27FC236}">
                <a16:creationId xmlns:a16="http://schemas.microsoft.com/office/drawing/2014/main" id="{99A58398-245D-40B1-872A-21247148C57A}"/>
              </a:ext>
            </a:extLst>
          </p:cNvPr>
          <p:cNvSpPr>
            <a:spLocks noGrp="1"/>
          </p:cNvSpPr>
          <p:nvPr/>
        </p:nvSpPr>
        <p:spPr>
          <a:xfrm>
            <a:off x="5381625" y="7810500"/>
            <a:ext cx="3524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convert.py</a:t>
            </a:r>
          </a:p>
          <a:p>
            <a:pPr algn="ctr">
              <a:lnSpc>
                <a:spcPct val="115000"/>
              </a:lnSpc>
              <a:buNone/>
              <a:def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数据格式转换</a:t>
            </a:r>
            <a:endParaRPr sz="2250" b="0">
              <a:solidFill>
                <a:srgbClr val="44484C"/>
              </a:solidFill>
              <a:latin typeface="思源黑体 2"/>
              <a:ea typeface="思源黑体 2"/>
              <a:cs typeface="思源黑体 2"/>
            </a:endParaRPr>
          </a:p>
        </p:txBody>
      </p:sp>
      <p:sp>
        <p:nvSpPr>
          <p:cNvPr id="38" name="训练效果&#10;模型推理能力">
            <a:extLst>
              <a:ext uri="{FF2B5EF4-FFF2-40B4-BE49-F238E27FC236}">
                <a16:creationId xmlns:a16="http://schemas.microsoft.com/office/drawing/2014/main" id="{344B09C0-615D-42D5-A3C0-FAB190B27426}"/>
              </a:ext>
            </a:extLst>
          </p:cNvPr>
          <p:cNvSpPr>
            <a:spLocks noGrp="1"/>
          </p:cNvSpPr>
          <p:nvPr/>
        </p:nvSpPr>
        <p:spPr>
          <a:xfrm>
            <a:off x="9286875" y="7810500"/>
            <a:ext cx="3524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q</a:t>
            </a:r>
            <a:r>
              <a:rPr sz="2250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wen-vl-finetune</a:t>
            </a:r>
          </a:p>
          <a:p>
            <a:pPr algn="ctr">
              <a:lnSpc>
                <a:spcPct val="115000"/>
              </a:lnSpc>
              <a:buNone/>
              <a:defRPr sz="2250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模型训练</a:t>
            </a:r>
            <a:endParaRPr sz="2250" b="0">
              <a:solidFill>
                <a:srgbClr val="92969E"/>
              </a:solidFill>
              <a:latin typeface="思源黑体 2"/>
              <a:ea typeface="思源黑体 2"/>
              <a:cs typeface="思源黑体 2"/>
            </a:endParaRPr>
          </a:p>
        </p:txBody>
      </p:sp>
      <p:sp>
        <p:nvSpPr>
          <p:cNvPr id="39" name="eval.py&#10;文件解析、指标计算">
            <a:extLst>
              <a:ext uri="{FF2B5EF4-FFF2-40B4-BE49-F238E27FC236}">
                <a16:creationId xmlns:a16="http://schemas.microsoft.com/office/drawing/2014/main" id="{536D2E57-17B3-4DAB-898A-75275B2B9FBC}"/>
              </a:ext>
            </a:extLst>
          </p:cNvPr>
          <p:cNvSpPr>
            <a:spLocks noGrp="1"/>
          </p:cNvSpPr>
          <p:nvPr/>
        </p:nvSpPr>
        <p:spPr>
          <a:xfrm>
            <a:off x="13192125" y="7810500"/>
            <a:ext cx="3524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eval.py</a:t>
            </a:r>
          </a:p>
          <a:p>
            <a:pPr algn="ctr">
              <a:lnSpc>
                <a:spcPct val="115000"/>
              </a:lnSpc>
              <a:buNone/>
              <a:def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指标计算</a:t>
            </a:r>
          </a:p>
        </p:txBody>
      </p:sp>
      <p:pic>
        <p:nvPicPr>
          <p:cNvPr id="66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8006" y="1755934"/>
            <a:ext cx="8207056" cy="366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功能演示">
            <a:extLst>
              <a:ext uri="{FF2B5EF4-FFF2-40B4-BE49-F238E27FC236}">
                <a16:creationId xmlns:a16="http://schemas.microsoft.com/office/drawing/2014/main" id="{6D86789E-852B-49DE-9A8C-FFDEC56DCFE1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 dirty="0" err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  <a:hlinkClick r:id="rId6"/>
              </a:rPr>
              <a:t>功能演示</a:t>
            </a:r>
            <a:endParaRPr sz="5100" b="1" dirty="0">
              <a:solidFill>
                <a:srgbClr val="111111"/>
              </a:solidFill>
              <a:latin typeface="思源黑体 2 Bold"/>
              <a:ea typeface="思源黑体 2 Bold"/>
              <a:cs typeface="思源黑体 2 Bold"/>
            </a:endParaRPr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6AFE3953-1C3B-4D75-B295-A856C11B9B96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03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5BBACA-76D0-8459-F887-3A17A0F683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768" y="2262790"/>
            <a:ext cx="10351323" cy="693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测试策略">
            <a:extLst>
              <a:ext uri="{FF2B5EF4-FFF2-40B4-BE49-F238E27FC236}">
                <a16:creationId xmlns:a16="http://schemas.microsoft.com/office/drawing/2014/main" id="{3E614FE3-C679-49A1-A6B1-194B1E82A36F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测试策略</a:t>
            </a:r>
          </a:p>
        </p:txBody>
      </p:sp>
      <p:sp>
        <p:nvSpPr>
          <p:cNvPr id="17" name="04">
            <a:extLst>
              <a:ext uri="{FF2B5EF4-FFF2-40B4-BE49-F238E27FC236}">
                <a16:creationId xmlns:a16="http://schemas.microsoft.com/office/drawing/2014/main" id="{50B99795-CEE7-4382-923F-9E6AE8149363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04</a:t>
            </a:r>
          </a:p>
        </p:txBody>
      </p:sp>
      <p:graphicFrame>
        <p:nvGraphicFramePr>
          <p:cNvPr id="32" name="表格 28"/>
          <p:cNvGraphicFramePr/>
          <p:nvPr/>
        </p:nvGraphicFramePr>
        <p:xfrm>
          <a:off x="1428750" y="2571750"/>
          <a:ext cx="15335250" cy="2857500"/>
        </p:xfrm>
        <a:graphic>
          <a:graphicData uri="http://schemas.openxmlformats.org/drawingml/2006/table">
            <a:tbl>
              <a:tblPr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模块特点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计划采用的策略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重点检查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视频：依赖外部资源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边界输入 + Mock 调用检查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时长、音频、打开时机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转换：多格式文件输出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格式等价类 + 文件内容断言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三种格式、空答案、目录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评估：数值与解析风险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数值边界 + 手算对照 + 源码检查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范围、均值、解析入口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测试视角">
            <a:extLst>
              <a:ext uri="{FF2B5EF4-FFF2-40B4-BE49-F238E27FC236}">
                <a16:creationId xmlns:a16="http://schemas.microsoft.com/office/drawing/2014/main" id="{A58450E7-501D-49F4-BBA4-2D94A047ED75}"/>
              </a:ext>
            </a:extLst>
          </p:cNvPr>
          <p:cNvSpPr>
            <a:spLocks noGrp="1"/>
          </p:cNvSpPr>
          <p:nvPr/>
        </p:nvSpPr>
        <p:spPr>
          <a:xfrm>
            <a:off x="1524000" y="5667375"/>
            <a:ext cx="68580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7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测试视角</a:t>
            </a:r>
          </a:p>
        </p:txBody>
      </p:sp>
      <p:sp>
        <p:nvSpPr>
          <p:cNvPr id="20" name="用例设计技术与补充检查">
            <a:extLst>
              <a:ext uri="{FF2B5EF4-FFF2-40B4-BE49-F238E27FC236}">
                <a16:creationId xmlns:a16="http://schemas.microsoft.com/office/drawing/2014/main" id="{403FF6D0-327B-49DD-BF1A-D8C84C645EA2}"/>
              </a:ext>
            </a:extLst>
          </p:cNvPr>
          <p:cNvSpPr>
            <a:spLocks noGrp="1"/>
          </p:cNvSpPr>
          <p:nvPr/>
        </p:nvSpPr>
        <p:spPr>
          <a:xfrm>
            <a:off x="9620250" y="5667375"/>
            <a:ext cx="72390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lang="zh-CN" altLang="en-US" sz="2700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测试</a:t>
            </a:r>
            <a:r>
              <a:rPr sz="2700" b="1" dirty="0" err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技术</a:t>
            </a:r>
            <a:endParaRPr sz="2700" b="1" dirty="0">
              <a:solidFill>
                <a:srgbClr val="44484C"/>
              </a:solidFill>
              <a:latin typeface="思源黑体 2 Bold"/>
              <a:ea typeface="思源黑体 2 Bold"/>
              <a:cs typeface="思源黑体 2 Bold"/>
            </a:endParaRPr>
          </a:p>
        </p:txBody>
      </p:sp>
      <p:graphicFrame>
        <p:nvGraphicFramePr>
          <p:cNvPr id="35" name="Chart"/>
          <p:cNvGraphicFramePr/>
          <p:nvPr>
            <p:extLst>
              <p:ext uri="{D42A27DB-BD31-4B8C-83A1-F6EECF244321}">
                <p14:modId xmlns:p14="http://schemas.microsoft.com/office/powerpoint/2010/main" val="544649059"/>
              </p:ext>
            </p:extLst>
          </p:nvPr>
        </p:nvGraphicFramePr>
        <p:xfrm>
          <a:off x="1524000" y="6429375"/>
          <a:ext cx="6858000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6" name="Chart"/>
          <p:cNvGraphicFramePr/>
          <p:nvPr/>
        </p:nvGraphicFramePr>
        <p:xfrm>
          <a:off x="9334500" y="6429375"/>
          <a:ext cx="7429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自动化设计">
            <a:extLst>
              <a:ext uri="{FF2B5EF4-FFF2-40B4-BE49-F238E27FC236}">
                <a16:creationId xmlns:a16="http://schemas.microsoft.com/office/drawing/2014/main" id="{69C0AE25-2084-4444-B372-3E893470F364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自动化设计</a:t>
            </a:r>
          </a:p>
        </p:txBody>
      </p:sp>
      <p:sp>
        <p:nvSpPr>
          <p:cNvPr id="17" name="05">
            <a:extLst>
              <a:ext uri="{FF2B5EF4-FFF2-40B4-BE49-F238E27FC236}">
                <a16:creationId xmlns:a16="http://schemas.microsoft.com/office/drawing/2014/main" id="{933C769E-8533-4517-82D6-03E7CF046B6E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05</a:t>
            </a:r>
          </a:p>
        </p:txBody>
      </p:sp>
      <p:sp>
        <p:nvSpPr>
          <p:cNvPr id="18" name="把用例写成函数，让 pytest 批量执行并">
            <a:extLst>
              <a:ext uri="{FF2B5EF4-FFF2-40B4-BE49-F238E27FC236}">
                <a16:creationId xmlns:a16="http://schemas.microsoft.com/office/drawing/2014/main" id="{A442D37E-B575-41C7-8730-C50E4092F5D5}"/>
              </a:ext>
            </a:extLst>
          </p:cNvPr>
          <p:cNvSpPr>
            <a:spLocks noGrp="1"/>
          </p:cNvSpPr>
          <p:nvPr/>
        </p:nvSpPr>
        <p:spPr>
          <a:xfrm>
            <a:off x="1524000" y="2524125"/>
            <a:ext cx="152400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6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6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把用例写成函数，让 pytest 批量执行并判断结果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81DD31-6ACB-43B6-AA30-34271D031BEF}"/>
              </a:ext>
            </a:extLst>
          </p:cNvPr>
          <p:cNvSpPr>
            <a:spLocks noGrp="1"/>
          </p:cNvSpPr>
          <p:nvPr/>
        </p:nvSpPr>
        <p:spPr>
          <a:xfrm>
            <a:off x="1524000" y="4095750"/>
            <a:ext cx="333375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0" name="用例函数">
            <a:extLst>
              <a:ext uri="{FF2B5EF4-FFF2-40B4-BE49-F238E27FC236}">
                <a16:creationId xmlns:a16="http://schemas.microsoft.com/office/drawing/2014/main" id="{BD8A465B-9B23-4D11-AE10-45BBC25DB3CC}"/>
              </a:ext>
            </a:extLst>
          </p:cNvPr>
          <p:cNvSpPr>
            <a:spLocks noGrp="1"/>
          </p:cNvSpPr>
          <p:nvPr/>
        </p:nvSpPr>
        <p:spPr>
          <a:xfrm>
            <a:off x="1619250" y="4095750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用例函数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69A36CC2-D9E6-4919-9FBF-364F7E31C6DE}"/>
              </a:ext>
            </a:extLst>
          </p:cNvPr>
          <p:cNvSpPr>
            <a:spLocks noGrp="1"/>
          </p:cNvSpPr>
          <p:nvPr/>
        </p:nvSpPr>
        <p:spPr>
          <a:xfrm>
            <a:off x="5019675" y="4476750"/>
            <a:ext cx="238125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F11B8F8-53B2-4485-96CB-EC0FEBB4A30C}"/>
              </a:ext>
            </a:extLst>
          </p:cNvPr>
          <p:cNvSpPr>
            <a:spLocks noGrp="1"/>
          </p:cNvSpPr>
          <p:nvPr/>
        </p:nvSpPr>
        <p:spPr>
          <a:xfrm>
            <a:off x="5429250" y="4095750"/>
            <a:ext cx="333375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3" name="自动执行">
            <a:extLst>
              <a:ext uri="{FF2B5EF4-FFF2-40B4-BE49-F238E27FC236}">
                <a16:creationId xmlns:a16="http://schemas.microsoft.com/office/drawing/2014/main" id="{6447F852-1760-4EEF-9620-E1DC3194AF3D}"/>
              </a:ext>
            </a:extLst>
          </p:cNvPr>
          <p:cNvSpPr>
            <a:spLocks noGrp="1"/>
          </p:cNvSpPr>
          <p:nvPr/>
        </p:nvSpPr>
        <p:spPr>
          <a:xfrm>
            <a:off x="5524500" y="4095750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自动执行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9830FAE2-54CC-4D1A-AD42-21582E33CDB2}"/>
              </a:ext>
            </a:extLst>
          </p:cNvPr>
          <p:cNvSpPr>
            <a:spLocks noGrp="1"/>
          </p:cNvSpPr>
          <p:nvPr/>
        </p:nvSpPr>
        <p:spPr>
          <a:xfrm>
            <a:off x="8924925" y="4476750"/>
            <a:ext cx="238125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E792D1-5561-4923-A730-3C3201B204E3}"/>
              </a:ext>
            </a:extLst>
          </p:cNvPr>
          <p:cNvSpPr>
            <a:spLocks noGrp="1"/>
          </p:cNvSpPr>
          <p:nvPr/>
        </p:nvSpPr>
        <p:spPr>
          <a:xfrm>
            <a:off x="9334500" y="4095750"/>
            <a:ext cx="333375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6" name="自动判定">
            <a:extLst>
              <a:ext uri="{FF2B5EF4-FFF2-40B4-BE49-F238E27FC236}">
                <a16:creationId xmlns:a16="http://schemas.microsoft.com/office/drawing/2014/main" id="{338493E9-D1A6-414F-ABFA-880C4990CDA7}"/>
              </a:ext>
            </a:extLst>
          </p:cNvPr>
          <p:cNvSpPr>
            <a:spLocks noGrp="1"/>
          </p:cNvSpPr>
          <p:nvPr/>
        </p:nvSpPr>
        <p:spPr>
          <a:xfrm>
            <a:off x="9429750" y="4095750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自动判定</a:t>
            </a: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F5DB3982-405A-4FCE-A654-7C5FB0FDD7AD}"/>
              </a:ext>
            </a:extLst>
          </p:cNvPr>
          <p:cNvSpPr>
            <a:spLocks noGrp="1"/>
          </p:cNvSpPr>
          <p:nvPr/>
        </p:nvSpPr>
        <p:spPr>
          <a:xfrm>
            <a:off x="12830175" y="4476750"/>
            <a:ext cx="238125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57A0A44-9939-4084-8D2C-7CE1EE2613F3}"/>
              </a:ext>
            </a:extLst>
          </p:cNvPr>
          <p:cNvSpPr>
            <a:spLocks noGrp="1"/>
          </p:cNvSpPr>
          <p:nvPr/>
        </p:nvSpPr>
        <p:spPr>
          <a:xfrm>
            <a:off x="13239750" y="4095750"/>
            <a:ext cx="333375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9" name="回归复用">
            <a:extLst>
              <a:ext uri="{FF2B5EF4-FFF2-40B4-BE49-F238E27FC236}">
                <a16:creationId xmlns:a16="http://schemas.microsoft.com/office/drawing/2014/main" id="{ACD4BFE6-6BAB-46B4-985D-0E89621B1DF6}"/>
              </a:ext>
            </a:extLst>
          </p:cNvPr>
          <p:cNvSpPr>
            <a:spLocks noGrp="1"/>
          </p:cNvSpPr>
          <p:nvPr/>
        </p:nvSpPr>
        <p:spPr>
          <a:xfrm>
            <a:off x="13335000" y="4095750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回归复用</a:t>
            </a:r>
          </a:p>
        </p:txBody>
      </p:sp>
      <p:sp>
        <p:nvSpPr>
          <p:cNvPr id="30" name="test_001～test_033&#10;编号对应">
            <a:extLst>
              <a:ext uri="{FF2B5EF4-FFF2-40B4-BE49-F238E27FC236}">
                <a16:creationId xmlns:a16="http://schemas.microsoft.com/office/drawing/2014/main" id="{794B86E2-5090-43BB-AE09-C1D78AF87CAF}"/>
              </a:ext>
            </a:extLst>
          </p:cNvPr>
          <p:cNvSpPr>
            <a:spLocks noGrp="1"/>
          </p:cNvSpPr>
          <p:nvPr/>
        </p:nvSpPr>
        <p:spPr>
          <a:xfrm>
            <a:off x="1428750" y="5381625"/>
            <a:ext cx="36195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test_001～test_033</a:t>
            </a:r>
          </a:p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编号对应测试清单</a:t>
            </a:r>
          </a:p>
        </p:txBody>
      </p:sp>
      <p:sp>
        <p:nvSpPr>
          <p:cNvPr id="31" name="pytest 自动发现&#10;逐条调用被测函数">
            <a:extLst>
              <a:ext uri="{FF2B5EF4-FFF2-40B4-BE49-F238E27FC236}">
                <a16:creationId xmlns:a16="http://schemas.microsoft.com/office/drawing/2014/main" id="{7CB8A57E-AB48-4200-A89E-3383FFB8D72D}"/>
              </a:ext>
            </a:extLst>
          </p:cNvPr>
          <p:cNvSpPr>
            <a:spLocks noGrp="1"/>
          </p:cNvSpPr>
          <p:nvPr/>
        </p:nvSpPr>
        <p:spPr>
          <a:xfrm>
            <a:off x="5334000" y="5381625"/>
            <a:ext cx="36195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pytest 自动发现</a:t>
            </a:r>
          </a:p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逐条调用被测函数</a:t>
            </a:r>
          </a:p>
        </p:txBody>
      </p:sp>
      <p:sp>
        <p:nvSpPr>
          <p:cNvPr id="32" name="assert 检查输出&#10;raises 检查异">
            <a:extLst>
              <a:ext uri="{FF2B5EF4-FFF2-40B4-BE49-F238E27FC236}">
                <a16:creationId xmlns:a16="http://schemas.microsoft.com/office/drawing/2014/main" id="{67AF593B-811B-43A4-821C-11977E7935CD}"/>
              </a:ext>
            </a:extLst>
          </p:cNvPr>
          <p:cNvSpPr>
            <a:spLocks noGrp="1"/>
          </p:cNvSpPr>
          <p:nvPr/>
        </p:nvSpPr>
        <p:spPr>
          <a:xfrm>
            <a:off x="9239250" y="5381625"/>
            <a:ext cx="36195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assert 检查输出</a:t>
            </a:r>
          </a:p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raises 检查异常</a:t>
            </a:r>
          </a:p>
        </p:txBody>
      </p:sp>
      <p:sp>
        <p:nvSpPr>
          <p:cNvPr id="33" name="修复后运行同一套用例&#10;报告失败编号与原因">
            <a:extLst>
              <a:ext uri="{FF2B5EF4-FFF2-40B4-BE49-F238E27FC236}">
                <a16:creationId xmlns:a16="http://schemas.microsoft.com/office/drawing/2014/main" id="{8B09AFD5-3B6D-47A9-9E53-0EED5B2B7BC8}"/>
              </a:ext>
            </a:extLst>
          </p:cNvPr>
          <p:cNvSpPr>
            <a:spLocks noGrp="1"/>
          </p:cNvSpPr>
          <p:nvPr/>
        </p:nvSpPr>
        <p:spPr>
          <a:xfrm>
            <a:off x="13144500" y="5381625"/>
            <a:ext cx="36195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修复后运行同一套用例</a:t>
            </a:r>
          </a:p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报告失败编号与原因</a:t>
            </a:r>
          </a:p>
        </p:txBody>
      </p:sp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首轮结果">
            <a:extLst>
              <a:ext uri="{FF2B5EF4-FFF2-40B4-BE49-F238E27FC236}">
                <a16:creationId xmlns:a16="http://schemas.microsoft.com/office/drawing/2014/main" id="{8A7B33D0-55B9-4BF1-A16F-BF26523F1A42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首轮结果</a:t>
            </a:r>
          </a:p>
        </p:txBody>
      </p:sp>
      <p:sp>
        <p:nvSpPr>
          <p:cNvPr id="17" name="06">
            <a:extLst>
              <a:ext uri="{FF2B5EF4-FFF2-40B4-BE49-F238E27FC236}">
                <a16:creationId xmlns:a16="http://schemas.microsoft.com/office/drawing/2014/main" id="{F0E366FA-CFE5-4CAD-9357-E6C248E828F5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06</a:t>
            </a:r>
          </a:p>
        </p:txBody>
      </p:sp>
      <p:graphicFrame>
        <p:nvGraphicFramePr>
          <p:cNvPr id="29" name="表格 26"/>
          <p:cNvGraphicFramePr/>
          <p:nvPr/>
        </p:nvGraphicFramePr>
        <p:xfrm>
          <a:off x="1428750" y="2619375"/>
          <a:ext cx="10953750" cy="361950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模块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用例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通过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失败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通过率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视频切分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7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6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1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85.71%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数据转换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结果评估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18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15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3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83.33%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合计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33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29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87.88%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3 类缺陷">
            <a:extLst>
              <a:ext uri="{FF2B5EF4-FFF2-40B4-BE49-F238E27FC236}">
                <a16:creationId xmlns:a16="http://schemas.microsoft.com/office/drawing/2014/main" id="{882030D5-8746-496C-ACD4-7670197B30F9}"/>
              </a:ext>
            </a:extLst>
          </p:cNvPr>
          <p:cNvSpPr>
            <a:spLocks noGrp="1"/>
          </p:cNvSpPr>
          <p:nvPr/>
        </p:nvSpPr>
        <p:spPr>
          <a:xfrm>
            <a:off x="12954000" y="2571750"/>
            <a:ext cx="39052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3 类缺陷</a:t>
            </a:r>
          </a:p>
        </p:txBody>
      </p:sp>
      <p:graphicFrame>
        <p:nvGraphicFramePr>
          <p:cNvPr id="31" name="Chart"/>
          <p:cNvGraphicFramePr/>
          <p:nvPr>
            <p:extLst>
              <p:ext uri="{D42A27DB-BD31-4B8C-83A1-F6EECF244321}">
                <p14:modId xmlns:p14="http://schemas.microsoft.com/office/powerpoint/2010/main" val="892136306"/>
              </p:ext>
            </p:extLst>
          </p:nvPr>
        </p:nvGraphicFramePr>
        <p:xfrm>
          <a:off x="12573000" y="3333750"/>
          <a:ext cx="4572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2" name="表格 29"/>
          <p:cNvGraphicFramePr/>
          <p:nvPr>
            <p:extLst>
              <p:ext uri="{D42A27DB-BD31-4B8C-83A1-F6EECF244321}">
                <p14:modId xmlns:p14="http://schemas.microsoft.com/office/powerpoint/2010/main" val="2723186100"/>
              </p:ext>
            </p:extLst>
          </p:nvPr>
        </p:nvGraphicFramePr>
        <p:xfrm>
          <a:off x="1428750" y="6953250"/>
          <a:ext cx="15335250" cy="2428876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2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缺陷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失败用例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暴露的问题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D-001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007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250" b="0" dirty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视频处理前未检验数据合法性</a:t>
                      </a:r>
                      <a:endParaRPr sz="2250" b="0" dirty="0">
                        <a:solidFill>
                          <a:srgbClr val="44484C"/>
                        </a:solidFill>
                        <a:latin typeface="思源黑体 2"/>
                        <a:ea typeface="思源黑体 2"/>
                        <a:cs typeface="思源黑体 2"/>
                      </a:endParaRP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D-002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024、025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0" dirty="0" err="1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越界分数参与统计</a:t>
                      </a:r>
                      <a:endParaRPr sz="2250" b="0" dirty="0">
                        <a:solidFill>
                          <a:srgbClr val="44484C"/>
                        </a:solidFill>
                        <a:latin typeface="思源黑体 2"/>
                        <a:ea typeface="思源黑体 2"/>
                        <a:cs typeface="思源黑体 2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D-003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026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0" dirty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eval </a:t>
                      </a:r>
                      <a:r>
                        <a:rPr sz="2250" b="0" dirty="0" err="1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解析外部输入</a:t>
                      </a:r>
                      <a:endParaRPr sz="2250" b="0" dirty="0">
                        <a:solidFill>
                          <a:srgbClr val="44484C"/>
                        </a:solidFill>
                        <a:latin typeface="思源黑体 2"/>
                        <a:ea typeface="思源黑体 2"/>
                        <a:cs typeface="思源黑体 2"/>
                      </a:endParaRP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统计采用完善用例 007 后的首次完整测试结">
            <a:extLst>
              <a:ext uri="{FF2B5EF4-FFF2-40B4-BE49-F238E27FC236}">
                <a16:creationId xmlns:a16="http://schemas.microsoft.com/office/drawing/2014/main" id="{7F1C4521-2D95-4C8B-9EA0-3A3ADBDBF29D}"/>
              </a:ext>
            </a:extLst>
          </p:cNvPr>
          <p:cNvSpPr>
            <a:spLocks noGrp="1"/>
          </p:cNvSpPr>
          <p:nvPr/>
        </p:nvSpPr>
        <p:spPr>
          <a:xfrm>
            <a:off x="1524000" y="6353175"/>
            <a:ext cx="1514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统计采用完善用例 007 后的首次完整测试结果</a:t>
            </a:r>
          </a:p>
        </p:txBody>
      </p:sp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典型缺陷">
            <a:extLst>
              <a:ext uri="{FF2B5EF4-FFF2-40B4-BE49-F238E27FC236}">
                <a16:creationId xmlns:a16="http://schemas.microsoft.com/office/drawing/2014/main" id="{E951427F-52D7-42CF-B74A-FD865EB6D7C6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典型缺陷</a:t>
            </a:r>
          </a:p>
        </p:txBody>
      </p:sp>
      <p:sp>
        <p:nvSpPr>
          <p:cNvPr id="17" name="07">
            <a:extLst>
              <a:ext uri="{FF2B5EF4-FFF2-40B4-BE49-F238E27FC236}">
                <a16:creationId xmlns:a16="http://schemas.microsoft.com/office/drawing/2014/main" id="{80064ABC-3781-42AD-9FB6-B1089DE15034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07</a:t>
            </a:r>
          </a:p>
        </p:txBody>
      </p:sp>
      <p:sp>
        <p:nvSpPr>
          <p:cNvPr id="18" name="D-001：缺字段，仍先打开视频">
            <a:extLst>
              <a:ext uri="{FF2B5EF4-FFF2-40B4-BE49-F238E27FC236}">
                <a16:creationId xmlns:a16="http://schemas.microsoft.com/office/drawing/2014/main" id="{843B3B50-973B-4391-9E68-B1E9400AAE1D}"/>
              </a:ext>
            </a:extLst>
          </p:cNvPr>
          <p:cNvSpPr>
            <a:spLocks noGrp="1"/>
          </p:cNvSpPr>
          <p:nvPr/>
        </p:nvSpPr>
        <p:spPr>
          <a:xfrm>
            <a:off x="1524000" y="2476500"/>
            <a:ext cx="151447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67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675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D-001：</a:t>
            </a:r>
            <a:r>
              <a:rPr lang="zh-CN" altLang="en-US" sz="3675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视频处理前未检查数据合法性</a:t>
            </a:r>
            <a:endParaRPr sz="3675" b="1" dirty="0">
              <a:solidFill>
                <a:srgbClr val="44484C"/>
              </a:solidFill>
              <a:latin typeface="思源黑体 2 Bold"/>
              <a:ea typeface="思源黑体 2 Bold"/>
              <a:cs typeface="思源黑体 2 Bold"/>
            </a:endParaRPr>
          </a:p>
        </p:txBody>
      </p:sp>
      <p:sp>
        <p:nvSpPr>
          <p:cNvPr id="19" name="测试目标：缺少 question_id 时，">
            <a:extLst>
              <a:ext uri="{FF2B5EF4-FFF2-40B4-BE49-F238E27FC236}">
                <a16:creationId xmlns:a16="http://schemas.microsoft.com/office/drawing/2014/main" id="{7E93F706-6192-42A2-AAF5-E2317CAA0770}"/>
              </a:ext>
            </a:extLst>
          </p:cNvPr>
          <p:cNvSpPr>
            <a:spLocks noGrp="1"/>
          </p:cNvSpPr>
          <p:nvPr/>
        </p:nvSpPr>
        <p:spPr>
          <a:xfrm>
            <a:off x="1571625" y="3476625"/>
            <a:ext cx="152400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8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850" b="0" dirty="0" err="1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测试目标</a:t>
            </a:r>
            <a:r>
              <a:rPr sz="2850" b="0" dirty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：</a:t>
            </a:r>
            <a:r>
              <a:rPr lang="zh-CN" altLang="en-US" sz="2850" b="0" dirty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输入数据</a:t>
            </a:r>
            <a:r>
              <a:rPr sz="2850" b="0" dirty="0" err="1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缺少</a:t>
            </a:r>
            <a:r>
              <a:rPr lang="zh-CN" altLang="en-US" sz="2850" b="0" dirty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某些字段</a:t>
            </a:r>
            <a:r>
              <a:rPr sz="2850" b="0" dirty="0" err="1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时，在打开视频前</a:t>
            </a:r>
            <a:r>
              <a:rPr lang="zh-CN" altLang="en-US" sz="2850" b="0" dirty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应</a:t>
            </a:r>
            <a:r>
              <a:rPr sz="2850" b="0" dirty="0" err="1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拒绝处理</a:t>
            </a:r>
            <a:endParaRPr sz="2850" b="0" dirty="0">
              <a:solidFill>
                <a:srgbClr val="44484C"/>
              </a:solidFill>
              <a:latin typeface="思源黑体 2"/>
              <a:ea typeface="思源黑体 2"/>
              <a:cs typeface="思源黑体 2"/>
            </a:endParaRPr>
          </a:p>
        </p:txBody>
      </p:sp>
      <p:sp>
        <p:nvSpPr>
          <p:cNvPr id="20" name="预期顺序">
            <a:extLst>
              <a:ext uri="{FF2B5EF4-FFF2-40B4-BE49-F238E27FC236}">
                <a16:creationId xmlns:a16="http://schemas.microsoft.com/office/drawing/2014/main" id="{45E79FB8-EBA2-4908-B89D-D7E4189F42CB}"/>
              </a:ext>
            </a:extLst>
          </p:cNvPr>
          <p:cNvSpPr>
            <a:spLocks noGrp="1"/>
          </p:cNvSpPr>
          <p:nvPr/>
        </p:nvSpPr>
        <p:spPr>
          <a:xfrm>
            <a:off x="1571625" y="4865556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7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预期顺序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D1FA512-FE42-4F62-AE15-FF24FEF4ABCF}"/>
              </a:ext>
            </a:extLst>
          </p:cNvPr>
          <p:cNvSpPr>
            <a:spLocks noGrp="1"/>
          </p:cNvSpPr>
          <p:nvPr/>
        </p:nvSpPr>
        <p:spPr>
          <a:xfrm>
            <a:off x="4476750" y="4770306"/>
            <a:ext cx="3714750" cy="1000125"/>
          </a:xfrm>
          <a:prstGeom prst="rect">
            <a:avLst/>
          </a:prstGeom>
          <a:solidFill>
            <a:srgbClr val="ECEDEE"/>
          </a:solidFill>
          <a:ln w="0">
            <a:noFill/>
          </a:ln>
        </p:spPr>
      </p:sp>
      <p:sp>
        <p:nvSpPr>
          <p:cNvPr id="22" name="检查必要字段">
            <a:extLst>
              <a:ext uri="{FF2B5EF4-FFF2-40B4-BE49-F238E27FC236}">
                <a16:creationId xmlns:a16="http://schemas.microsoft.com/office/drawing/2014/main" id="{DEC3841D-248F-416B-B311-D3B627D052BC}"/>
              </a:ext>
            </a:extLst>
          </p:cNvPr>
          <p:cNvSpPr>
            <a:spLocks noGrp="1"/>
          </p:cNvSpPr>
          <p:nvPr/>
        </p:nvSpPr>
        <p:spPr>
          <a:xfrm>
            <a:off x="4572000" y="4770306"/>
            <a:ext cx="3524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检查必要字段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4626836D-5F67-4FBE-BB2C-B53335B543FA}"/>
              </a:ext>
            </a:extLst>
          </p:cNvPr>
          <p:cNvSpPr>
            <a:spLocks noGrp="1"/>
          </p:cNvSpPr>
          <p:nvPr/>
        </p:nvSpPr>
        <p:spPr>
          <a:xfrm>
            <a:off x="8620125" y="5151306"/>
            <a:ext cx="762000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2F947A-F8B8-4A88-8DBF-3AF30329F53F}"/>
              </a:ext>
            </a:extLst>
          </p:cNvPr>
          <p:cNvSpPr>
            <a:spLocks noGrp="1"/>
          </p:cNvSpPr>
          <p:nvPr/>
        </p:nvSpPr>
        <p:spPr>
          <a:xfrm>
            <a:off x="9906000" y="4770306"/>
            <a:ext cx="3905250" cy="1000125"/>
          </a:xfrm>
          <a:prstGeom prst="rect">
            <a:avLst/>
          </a:prstGeom>
          <a:solidFill>
            <a:srgbClr val="ECEDEE"/>
          </a:solidFill>
          <a:ln w="0">
            <a:noFill/>
          </a:ln>
        </p:spPr>
      </p:sp>
      <p:sp>
        <p:nvSpPr>
          <p:cNvPr id="25" name="缺失即报错">
            <a:extLst>
              <a:ext uri="{FF2B5EF4-FFF2-40B4-BE49-F238E27FC236}">
                <a16:creationId xmlns:a16="http://schemas.microsoft.com/office/drawing/2014/main" id="{7745973F-3EE9-4266-A81F-87011A1FFACF}"/>
              </a:ext>
            </a:extLst>
          </p:cNvPr>
          <p:cNvSpPr>
            <a:spLocks noGrp="1"/>
          </p:cNvSpPr>
          <p:nvPr/>
        </p:nvSpPr>
        <p:spPr>
          <a:xfrm>
            <a:off x="10001250" y="4770306"/>
            <a:ext cx="37147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缺失即报错</a:t>
            </a:r>
          </a:p>
        </p:txBody>
      </p:sp>
      <p:sp>
        <p:nvSpPr>
          <p:cNvPr id="27" name="原有顺序">
            <a:extLst>
              <a:ext uri="{FF2B5EF4-FFF2-40B4-BE49-F238E27FC236}">
                <a16:creationId xmlns:a16="http://schemas.microsoft.com/office/drawing/2014/main" id="{11548B48-3456-47FA-85C7-6AA4D949E308}"/>
              </a:ext>
            </a:extLst>
          </p:cNvPr>
          <p:cNvSpPr>
            <a:spLocks noGrp="1"/>
          </p:cNvSpPr>
          <p:nvPr/>
        </p:nvSpPr>
        <p:spPr>
          <a:xfrm>
            <a:off x="1571625" y="7128772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lang="zh-CN" altLang="en-US" sz="2700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实际</a:t>
            </a:r>
            <a:r>
              <a:rPr sz="2700" b="1" dirty="0" err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顺序</a:t>
            </a:r>
            <a:endParaRPr sz="2700" b="1" dirty="0">
              <a:solidFill>
                <a:srgbClr val="44484C"/>
              </a:solidFill>
              <a:latin typeface="思源黑体 2 Bold"/>
              <a:ea typeface="思源黑体 2 Bold"/>
              <a:cs typeface="思源黑体 2 Bold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8196E62-B776-46BA-A522-BDE2E0DAF880}"/>
              </a:ext>
            </a:extLst>
          </p:cNvPr>
          <p:cNvSpPr>
            <a:spLocks noGrp="1"/>
          </p:cNvSpPr>
          <p:nvPr/>
        </p:nvSpPr>
        <p:spPr>
          <a:xfrm>
            <a:off x="4476750" y="6962085"/>
            <a:ext cx="295275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9" name="打开视频">
            <a:extLst>
              <a:ext uri="{FF2B5EF4-FFF2-40B4-BE49-F238E27FC236}">
                <a16:creationId xmlns:a16="http://schemas.microsoft.com/office/drawing/2014/main" id="{B441857C-4DB3-4A34-8B49-106CA2EF53A4}"/>
              </a:ext>
            </a:extLst>
          </p:cNvPr>
          <p:cNvSpPr>
            <a:spLocks noGrp="1"/>
          </p:cNvSpPr>
          <p:nvPr/>
        </p:nvSpPr>
        <p:spPr>
          <a:xfrm>
            <a:off x="4572000" y="6962085"/>
            <a:ext cx="2762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打开视频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20ACBE4B-5E61-4C28-8CF3-8FEE2FBA9AE6}"/>
              </a:ext>
            </a:extLst>
          </p:cNvPr>
          <p:cNvSpPr>
            <a:spLocks noGrp="1"/>
          </p:cNvSpPr>
          <p:nvPr/>
        </p:nvSpPr>
        <p:spPr>
          <a:xfrm>
            <a:off x="7667625" y="7338322"/>
            <a:ext cx="523875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6B01593-B5AC-4B57-9DB1-5B640BFB349B}"/>
              </a:ext>
            </a:extLst>
          </p:cNvPr>
          <p:cNvSpPr>
            <a:spLocks noGrp="1"/>
          </p:cNvSpPr>
          <p:nvPr/>
        </p:nvSpPr>
        <p:spPr>
          <a:xfrm>
            <a:off x="8477250" y="6962085"/>
            <a:ext cx="371475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32" name="准备截取片段">
            <a:extLst>
              <a:ext uri="{FF2B5EF4-FFF2-40B4-BE49-F238E27FC236}">
                <a16:creationId xmlns:a16="http://schemas.microsoft.com/office/drawing/2014/main" id="{E425E724-DDD2-4908-A4E1-F49E96AD90A5}"/>
              </a:ext>
            </a:extLst>
          </p:cNvPr>
          <p:cNvSpPr>
            <a:spLocks noGrp="1"/>
          </p:cNvSpPr>
          <p:nvPr/>
        </p:nvSpPr>
        <p:spPr>
          <a:xfrm>
            <a:off x="8572500" y="6962085"/>
            <a:ext cx="3524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准备截取片段</a:t>
            </a: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36F7FDD1-2424-47AC-BCF4-728D34DB3C37}"/>
              </a:ext>
            </a:extLst>
          </p:cNvPr>
          <p:cNvSpPr>
            <a:spLocks noGrp="1"/>
          </p:cNvSpPr>
          <p:nvPr/>
        </p:nvSpPr>
        <p:spPr>
          <a:xfrm>
            <a:off x="12477750" y="7338322"/>
            <a:ext cx="523875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0377180-3889-4A9A-B33A-ACEF434448CA}"/>
              </a:ext>
            </a:extLst>
          </p:cNvPr>
          <p:cNvSpPr>
            <a:spLocks noGrp="1"/>
          </p:cNvSpPr>
          <p:nvPr/>
        </p:nvSpPr>
        <p:spPr>
          <a:xfrm>
            <a:off x="13287375" y="6962085"/>
            <a:ext cx="3476625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35" name="取编号时才报错">
            <a:extLst>
              <a:ext uri="{FF2B5EF4-FFF2-40B4-BE49-F238E27FC236}">
                <a16:creationId xmlns:a16="http://schemas.microsoft.com/office/drawing/2014/main" id="{35E36CB6-E73D-49D8-AC5F-CA41BA873F87}"/>
              </a:ext>
            </a:extLst>
          </p:cNvPr>
          <p:cNvSpPr>
            <a:spLocks noGrp="1"/>
          </p:cNvSpPr>
          <p:nvPr/>
        </p:nvSpPr>
        <p:spPr>
          <a:xfrm>
            <a:off x="13382625" y="6962085"/>
            <a:ext cx="3286125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lang="zh-CN" altLang="en-US" sz="3000" b="1" dirty="0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读</a:t>
            </a:r>
            <a:r>
              <a:rPr sz="3000" b="1" dirty="0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取</a:t>
            </a:r>
            <a:r>
              <a:rPr lang="zh-CN" altLang="en-US" sz="3000" b="1" dirty="0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字段</a:t>
            </a:r>
            <a:r>
              <a:rPr sz="3000" b="1" dirty="0" err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时才报错</a:t>
            </a:r>
            <a:endParaRPr sz="3000" b="1" dirty="0">
              <a:solidFill>
                <a:srgbClr val="FFFFFF"/>
              </a:solidFill>
              <a:latin typeface="思源黑体 2 Bold"/>
              <a:ea typeface="思源黑体 2 Bold"/>
              <a:cs typeface="思源黑体 2 Bold"/>
            </a:endParaRPr>
          </a:p>
        </p:txBody>
      </p:sp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测试踩坑">
            <a:extLst>
              <a:ext uri="{FF2B5EF4-FFF2-40B4-BE49-F238E27FC236}">
                <a16:creationId xmlns:a16="http://schemas.microsoft.com/office/drawing/2014/main" id="{05B8EFA3-EA26-44E5-BA92-E0921DDFD645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测试踩坑</a:t>
            </a:r>
          </a:p>
        </p:txBody>
      </p:sp>
      <p:sp>
        <p:nvSpPr>
          <p:cNvPr id="17" name="08">
            <a:extLst>
              <a:ext uri="{FF2B5EF4-FFF2-40B4-BE49-F238E27FC236}">
                <a16:creationId xmlns:a16="http://schemas.microsoft.com/office/drawing/2014/main" id="{DFA462CF-75CA-4819-8BF1-495082B40F05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08</a:t>
            </a:r>
          </a:p>
        </p:txBody>
      </p:sp>
      <p:sp>
        <p:nvSpPr>
          <p:cNvPr id="18" name="只检查“抛了异常”，漏掉“异常之前做了什么”">
            <a:extLst>
              <a:ext uri="{FF2B5EF4-FFF2-40B4-BE49-F238E27FC236}">
                <a16:creationId xmlns:a16="http://schemas.microsoft.com/office/drawing/2014/main" id="{B01EE976-5813-452F-97C3-25D74E5D49D1}"/>
              </a:ext>
            </a:extLst>
          </p:cNvPr>
          <p:cNvSpPr>
            <a:spLocks noGrp="1"/>
          </p:cNvSpPr>
          <p:nvPr/>
        </p:nvSpPr>
        <p:spPr>
          <a:xfrm>
            <a:off x="1524000" y="2524125"/>
            <a:ext cx="15335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5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525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只检查“</a:t>
            </a:r>
            <a:r>
              <a:rPr sz="3525" b="1" dirty="0" err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抛了异常</a:t>
            </a:r>
            <a:r>
              <a:rPr sz="3525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”，</a:t>
            </a:r>
            <a:r>
              <a:rPr sz="3525" b="1" dirty="0" err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漏掉“异常之前做了什么</a:t>
            </a:r>
            <a:r>
              <a:rPr sz="3525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”</a:t>
            </a:r>
          </a:p>
        </p:txBody>
      </p:sp>
      <p:sp>
        <p:nvSpPr>
          <p:cNvPr id="19" name="早期用例：通过">
            <a:extLst>
              <a:ext uri="{FF2B5EF4-FFF2-40B4-BE49-F238E27FC236}">
                <a16:creationId xmlns:a16="http://schemas.microsoft.com/office/drawing/2014/main" id="{43DE8CE1-20D6-4D8D-BB48-B073DC8909FC}"/>
              </a:ext>
            </a:extLst>
          </p:cNvPr>
          <p:cNvSpPr>
            <a:spLocks noGrp="1"/>
          </p:cNvSpPr>
          <p:nvPr/>
        </p:nvSpPr>
        <p:spPr>
          <a:xfrm>
            <a:off x="1619250" y="3905250"/>
            <a:ext cx="6953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225" b="1">
                <a:solidFill>
                  <a:srgbClr val="92969E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 dirty="0" err="1">
                <a:solidFill>
                  <a:srgbClr val="92969E"/>
                </a:solidFill>
                <a:latin typeface="思源黑体 2 Bold"/>
                <a:ea typeface="思源黑体 2 Bold"/>
                <a:cs typeface="思源黑体 2 Bold"/>
              </a:rPr>
              <a:t>早期用例：通过</a:t>
            </a:r>
            <a:endParaRPr sz="3225" b="1" dirty="0">
              <a:solidFill>
                <a:srgbClr val="92969E"/>
              </a:solidFill>
              <a:latin typeface="思源黑体 2 Bold"/>
              <a:ea typeface="思源黑体 2 Bold"/>
              <a:cs typeface="思源黑体 2 Bold"/>
            </a:endParaRPr>
          </a:p>
        </p:txBody>
      </p:sp>
      <p:sp>
        <p:nvSpPr>
          <p:cNvPr id="20" name="with pytest.raises(Key">
            <a:extLst>
              <a:ext uri="{FF2B5EF4-FFF2-40B4-BE49-F238E27FC236}">
                <a16:creationId xmlns:a16="http://schemas.microsoft.com/office/drawing/2014/main" id="{C2FA3D6B-C943-4731-860F-9B11BBC67C5D}"/>
              </a:ext>
            </a:extLst>
          </p:cNvPr>
          <p:cNvSpPr>
            <a:spLocks noGrp="1"/>
          </p:cNvSpPr>
          <p:nvPr/>
        </p:nvSpPr>
        <p:spPr>
          <a:xfrm>
            <a:off x="1619250" y="4857750"/>
            <a:ext cx="714375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550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with </a:t>
            </a:r>
            <a:r>
              <a:rPr sz="2550" b="1" dirty="0" err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pytest.raises</a:t>
            </a:r>
            <a:r>
              <a:rPr sz="2550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(</a:t>
            </a:r>
            <a:r>
              <a:rPr sz="2550" b="1" dirty="0" err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KeyError</a:t>
            </a:r>
            <a:r>
              <a:rPr sz="2550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):</a:t>
            </a:r>
          </a:p>
          <a:p>
            <a:pPr algn="l">
              <a:lnSpc>
                <a:spcPct val="115000"/>
              </a:lnSpc>
              <a:buNone/>
              <a:defRPr sz="255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550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    </a:t>
            </a:r>
            <a:r>
              <a:rPr sz="2550" b="1" dirty="0" err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data_process</a:t>
            </a:r>
            <a:r>
              <a:rPr sz="2550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(row, "videos")</a:t>
            </a:r>
          </a:p>
        </p:txBody>
      </p:sp>
      <p:sp>
        <p:nvSpPr>
          <p:cNvPr id="21" name="只验证异常类型&#10;无法发现视频已被打开">
            <a:extLst>
              <a:ext uri="{FF2B5EF4-FFF2-40B4-BE49-F238E27FC236}">
                <a16:creationId xmlns:a16="http://schemas.microsoft.com/office/drawing/2014/main" id="{55C471EE-6092-415D-A0C2-E09ABDC30218}"/>
              </a:ext>
            </a:extLst>
          </p:cNvPr>
          <p:cNvSpPr>
            <a:spLocks noGrp="1"/>
          </p:cNvSpPr>
          <p:nvPr/>
        </p:nvSpPr>
        <p:spPr>
          <a:xfrm>
            <a:off x="1619250" y="6453188"/>
            <a:ext cx="704850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只验证异常类型</a:t>
            </a:r>
          </a:p>
          <a:p>
            <a:pPr algn="l">
              <a:lnSpc>
                <a:spcPct val="115000"/>
              </a:lnSpc>
              <a:buNone/>
              <a:def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无法发现视频已被打开</a:t>
            </a:r>
          </a:p>
        </p:txBody>
      </p:sp>
      <p:sp>
        <p:nvSpPr>
          <p:cNvPr id="22" name="加强断言：暴露缺陷">
            <a:extLst>
              <a:ext uri="{FF2B5EF4-FFF2-40B4-BE49-F238E27FC236}">
                <a16:creationId xmlns:a16="http://schemas.microsoft.com/office/drawing/2014/main" id="{DB7B6D7B-61C0-4DAD-849F-8767F369E100}"/>
              </a:ext>
            </a:extLst>
          </p:cNvPr>
          <p:cNvSpPr>
            <a:spLocks noGrp="1"/>
          </p:cNvSpPr>
          <p:nvPr/>
        </p:nvSpPr>
        <p:spPr>
          <a:xfrm>
            <a:off x="9620250" y="3905250"/>
            <a:ext cx="7334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225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 dirty="0" err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加强断言：暴露缺陷</a:t>
            </a:r>
            <a:endParaRPr sz="3225" b="1" dirty="0">
              <a:solidFill>
                <a:srgbClr val="00558A"/>
              </a:solidFill>
              <a:latin typeface="思源黑体 2 Bold"/>
              <a:ea typeface="思源黑体 2 Bold"/>
              <a:cs typeface="思源黑体 2 Bold"/>
            </a:endParaRPr>
          </a:p>
        </p:txBody>
      </p:sp>
      <p:sp>
        <p:nvSpPr>
          <p:cNvPr id="23" name="video_file_clip.assert">
            <a:extLst>
              <a:ext uri="{FF2B5EF4-FFF2-40B4-BE49-F238E27FC236}">
                <a16:creationId xmlns:a16="http://schemas.microsoft.com/office/drawing/2014/main" id="{50504A72-E937-40DA-9609-62D7B4A06178}"/>
              </a:ext>
            </a:extLst>
          </p:cNvPr>
          <p:cNvSpPr>
            <a:spLocks noGrp="1"/>
          </p:cNvSpPr>
          <p:nvPr/>
        </p:nvSpPr>
        <p:spPr>
          <a:xfrm>
            <a:off x="9620250" y="5072063"/>
            <a:ext cx="74295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400" b="1" dirty="0" err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video_file_clip.assert_not_called</a:t>
            </a:r>
            <a:r>
              <a:rPr sz="2400" b="1" dirty="0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()</a:t>
            </a:r>
          </a:p>
        </p:txBody>
      </p:sp>
      <p:sp>
        <p:nvSpPr>
          <p:cNvPr id="24" name="实际调用 1 次，测试失败&#10;定位到字段校验晚">
            <a:extLst>
              <a:ext uri="{FF2B5EF4-FFF2-40B4-BE49-F238E27FC236}">
                <a16:creationId xmlns:a16="http://schemas.microsoft.com/office/drawing/2014/main" id="{C5D32DD9-6402-4CC8-80AE-71622B808510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733425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700" b="0" dirty="0" err="1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实际调用</a:t>
            </a:r>
            <a:r>
              <a:rPr sz="2700" b="0" dirty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 1 </a:t>
            </a:r>
            <a:r>
              <a:rPr sz="2700" b="0" dirty="0" err="1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次，测试失败</a:t>
            </a:r>
            <a:endParaRPr sz="2700" b="0" dirty="0">
              <a:solidFill>
                <a:srgbClr val="44484C"/>
              </a:solidFill>
              <a:latin typeface="思源黑体 2"/>
              <a:ea typeface="思源黑体 2"/>
              <a:cs typeface="思源黑体 2"/>
            </a:endParaRPr>
          </a:p>
          <a:p>
            <a:pPr algn="l">
              <a:lnSpc>
                <a:spcPct val="115000"/>
              </a:lnSpc>
              <a:buNone/>
              <a:def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700" b="0" dirty="0" err="1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定位到字段校验晚于视频打开</a:t>
            </a:r>
            <a:endParaRPr sz="2700" b="0" dirty="0">
              <a:solidFill>
                <a:srgbClr val="44484C"/>
              </a:solidFill>
              <a:latin typeface="思源黑体 2"/>
              <a:ea typeface="思源黑体 2"/>
              <a:cs typeface="思源黑体 2"/>
            </a:endParaRPr>
          </a:p>
        </p:txBody>
      </p:sp>
      <p:sp>
        <p:nvSpPr>
          <p:cNvPr id="25" name="修复：入口前置必要字段检查 → 原异常断言通">
            <a:extLst>
              <a:ext uri="{FF2B5EF4-FFF2-40B4-BE49-F238E27FC236}">
                <a16:creationId xmlns:a16="http://schemas.microsoft.com/office/drawing/2014/main" id="{041742AB-9D6A-4F39-A895-582092CCE43C}"/>
              </a:ext>
            </a:extLst>
          </p:cNvPr>
          <p:cNvSpPr>
            <a:spLocks noGrp="1"/>
          </p:cNvSpPr>
          <p:nvPr/>
        </p:nvSpPr>
        <p:spPr>
          <a:xfrm>
            <a:off x="1084457" y="8239125"/>
            <a:ext cx="153352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77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775" b="1" dirty="0" err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修复：入口前置必要字段检查</a:t>
            </a:r>
            <a:r>
              <a:rPr sz="2775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 → </a:t>
            </a:r>
            <a:r>
              <a:rPr sz="2775" b="1" dirty="0" err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原异常断言通过，视频</a:t>
            </a:r>
            <a:r>
              <a:rPr lang="zh-CN" altLang="en-US" sz="2775" b="1" dirty="0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未</a:t>
            </a:r>
            <a:r>
              <a:rPr sz="2775" b="1" dirty="0" err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打开</a:t>
            </a:r>
            <a:endParaRPr sz="2775" b="1" dirty="0">
              <a:solidFill>
                <a:srgbClr val="44484C"/>
              </a:solidFill>
              <a:latin typeface="思源黑体 2 Bold"/>
              <a:ea typeface="思源黑体 2 Bold"/>
              <a:cs typeface="思源黑体 2 Bold"/>
            </a:endParaRPr>
          </a:p>
        </p:txBody>
      </p:sp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回归验证">
            <a:extLst>
              <a:ext uri="{FF2B5EF4-FFF2-40B4-BE49-F238E27FC236}">
                <a16:creationId xmlns:a16="http://schemas.microsoft.com/office/drawing/2014/main" id="{5AE18742-A7F8-43EC-838A-4CD85FCA25D7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回归验证</a:t>
            </a:r>
          </a:p>
        </p:txBody>
      </p:sp>
      <p:sp>
        <p:nvSpPr>
          <p:cNvPr id="17" name="09">
            <a:extLst>
              <a:ext uri="{FF2B5EF4-FFF2-40B4-BE49-F238E27FC236}">
                <a16:creationId xmlns:a16="http://schemas.microsoft.com/office/drawing/2014/main" id="{B71699C8-1F48-44B6-BA49-D34D6550D65F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09</a:t>
            </a:r>
          </a:p>
        </p:txBody>
      </p:sp>
      <p:sp>
        <p:nvSpPr>
          <p:cNvPr id="18" name="33 / 33 通过">
            <a:extLst>
              <a:ext uri="{FF2B5EF4-FFF2-40B4-BE49-F238E27FC236}">
                <a16:creationId xmlns:a16="http://schemas.microsoft.com/office/drawing/2014/main" id="{F3E3BD45-FF64-4D20-AD97-A108CAFD9C3B}"/>
              </a:ext>
            </a:extLst>
          </p:cNvPr>
          <p:cNvSpPr>
            <a:spLocks noGrp="1"/>
          </p:cNvSpPr>
          <p:nvPr/>
        </p:nvSpPr>
        <p:spPr>
          <a:xfrm>
            <a:off x="1524000" y="2524125"/>
            <a:ext cx="152400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33 / 33 通过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1428750" y="3952875"/>
          <a:ext cx="6477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0" name="表格 29"/>
          <p:cNvGraphicFramePr/>
          <p:nvPr>
            <p:extLst>
              <p:ext uri="{D42A27DB-BD31-4B8C-83A1-F6EECF244321}">
                <p14:modId xmlns:p14="http://schemas.microsoft.com/office/powerpoint/2010/main" val="2638160982"/>
              </p:ext>
            </p:extLst>
          </p:nvPr>
        </p:nvGraphicFramePr>
        <p:xfrm>
          <a:off x="8382000" y="3952875"/>
          <a:ext cx="8477250" cy="38100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缺陷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修复方式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D-001</a:t>
                      </a:r>
                    </a:p>
                    <a:p>
                      <a:pPr algn="l"/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缺字段仍打开视频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 dirty="0" err="1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必要字段检查前置</a:t>
                      </a:r>
                      <a:endParaRPr sz="2325" b="0" dirty="0">
                        <a:solidFill>
                          <a:srgbClr val="44484C"/>
                        </a:solidFill>
                        <a:latin typeface="思源黑体 2"/>
                        <a:ea typeface="思源黑体 2"/>
                        <a:cs typeface="思源黑体 2"/>
                      </a:endParaRPr>
                    </a:p>
                    <a:p>
                      <a:pPr algn="ctr"/>
                      <a:r>
                        <a:rPr sz="2325" b="0" dirty="0" err="1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验证视频</a:t>
                      </a:r>
                      <a:r>
                        <a:rPr lang="zh-CN" altLang="en-US" sz="2325" b="0" dirty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未被</a:t>
                      </a:r>
                      <a:r>
                        <a:rPr sz="2325" b="0" dirty="0" err="1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打开</a:t>
                      </a:r>
                      <a:endParaRPr sz="2325" b="0" dirty="0">
                        <a:solidFill>
                          <a:srgbClr val="44484C"/>
                        </a:solidFill>
                        <a:latin typeface="思源黑体 2"/>
                        <a:ea typeface="思源黑体 2"/>
                        <a:cs typeface="思源黑体 2"/>
                      </a:endParaRP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D-002</a:t>
                      </a:r>
                    </a:p>
                    <a:p>
                      <a:pPr algn="l"/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越界评分参与统计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 dirty="0" err="1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有限值裁剪到</a:t>
                      </a:r>
                      <a:r>
                        <a:rPr sz="2325" b="0" dirty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 0～5</a:t>
                      </a:r>
                    </a:p>
                    <a:p>
                      <a:pPr algn="ctr"/>
                      <a:r>
                        <a:rPr sz="2325" b="0" dirty="0" err="1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非法及非有限值归零</a:t>
                      </a:r>
                      <a:endParaRPr sz="2325" b="0" dirty="0">
                        <a:solidFill>
                          <a:srgbClr val="44484C"/>
                        </a:solidFill>
                        <a:latin typeface="思源黑体 2"/>
                        <a:ea typeface="思源黑体 2"/>
                        <a:cs typeface="思源黑体 2"/>
                      </a:endParaR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D-003</a:t>
                      </a:r>
                    </a:p>
                    <a:p>
                      <a:pPr algn="l"/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eval 解析外部输入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 dirty="0" err="1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改用</a:t>
                      </a:r>
                      <a:r>
                        <a:rPr sz="2325" b="0" dirty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json.loads</a:t>
                      </a:r>
                      <a:endParaRPr sz="2325" b="0" dirty="0">
                        <a:solidFill>
                          <a:srgbClr val="44484C"/>
                        </a:solidFill>
                        <a:latin typeface="思源黑体 2"/>
                        <a:ea typeface="思源黑体 2"/>
                        <a:cs typeface="思源黑体 2"/>
                      </a:endParaRPr>
                    </a:p>
                    <a:p>
                      <a:pPr algn="ctr"/>
                      <a:r>
                        <a:rPr lang="zh-CN" altLang="en-US" sz="2325" b="0" dirty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读取测试数据</a:t>
                      </a:r>
                      <a:endParaRPr sz="2325" b="0" dirty="0">
                        <a:solidFill>
                          <a:srgbClr val="44484C"/>
                        </a:solidFill>
                        <a:latin typeface="思源黑体 2"/>
                        <a:ea typeface="思源黑体 2"/>
                        <a:cs typeface="思源黑体 2"/>
                      </a:endParaRP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测试结论">
            <a:extLst>
              <a:ext uri="{FF2B5EF4-FFF2-40B4-BE49-F238E27FC236}">
                <a16:creationId xmlns:a16="http://schemas.microsoft.com/office/drawing/2014/main" id="{876AC67E-A777-4BE0-9AF1-90005C48C29B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测试结论</a:t>
            </a:r>
          </a:p>
        </p:txBody>
      </p:sp>
      <p:sp>
        <p:nvSpPr>
          <p:cNvPr id="17" name="10">
            <a:extLst>
              <a:ext uri="{FF2B5EF4-FFF2-40B4-BE49-F238E27FC236}">
                <a16:creationId xmlns:a16="http://schemas.microsoft.com/office/drawing/2014/main" id="{D6A0DDD3-85E5-4793-B637-40E49B73CA2B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10</a:t>
            </a:r>
          </a:p>
        </p:txBody>
      </p:sp>
      <p:sp>
        <p:nvSpPr>
          <p:cNvPr id="18" name="01">
            <a:extLst>
              <a:ext uri="{FF2B5EF4-FFF2-40B4-BE49-F238E27FC236}">
                <a16:creationId xmlns:a16="http://schemas.microsoft.com/office/drawing/2014/main" id="{5A17D2F8-EF58-445D-8C39-E27AFC34D965}"/>
              </a:ext>
            </a:extLst>
          </p:cNvPr>
          <p:cNvSpPr>
            <a:spLocks noGrp="1"/>
          </p:cNvSpPr>
          <p:nvPr/>
        </p:nvSpPr>
        <p:spPr>
          <a:xfrm>
            <a:off x="1619250" y="2714625"/>
            <a:ext cx="1047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01</a:t>
            </a:r>
          </a:p>
        </p:txBody>
      </p:sp>
      <p:sp>
        <p:nvSpPr>
          <p:cNvPr id="19" name="三个模块的现有用例全部通过">
            <a:extLst>
              <a:ext uri="{FF2B5EF4-FFF2-40B4-BE49-F238E27FC236}">
                <a16:creationId xmlns:a16="http://schemas.microsoft.com/office/drawing/2014/main" id="{760C6F25-0D46-4A7E-BF4F-5488A03738FF}"/>
              </a:ext>
            </a:extLst>
          </p:cNvPr>
          <p:cNvSpPr>
            <a:spLocks noGrp="1"/>
          </p:cNvSpPr>
          <p:nvPr/>
        </p:nvSpPr>
        <p:spPr>
          <a:xfrm>
            <a:off x="3048000" y="2714625"/>
            <a:ext cx="13525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数据转换功能符合预期</a:t>
            </a:r>
          </a:p>
        </p:txBody>
      </p:sp>
      <p:sp>
        <p:nvSpPr>
          <p:cNvPr id="21" name="02">
            <a:extLst>
              <a:ext uri="{FF2B5EF4-FFF2-40B4-BE49-F238E27FC236}">
                <a16:creationId xmlns:a16="http://schemas.microsoft.com/office/drawing/2014/main" id="{B972CE90-A889-4936-BEE8-B6117601EC20}"/>
              </a:ext>
            </a:extLst>
          </p:cNvPr>
          <p:cNvSpPr>
            <a:spLocks noGrp="1"/>
          </p:cNvSpPr>
          <p:nvPr/>
        </p:nvSpPr>
        <p:spPr>
          <a:xfrm>
            <a:off x="1619250" y="4381500"/>
            <a:ext cx="1047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02</a:t>
            </a:r>
          </a:p>
        </p:txBody>
      </p:sp>
      <p:sp>
        <p:nvSpPr>
          <p:cNvPr id="22" name="异常测试应同时检查副作用">
            <a:extLst>
              <a:ext uri="{FF2B5EF4-FFF2-40B4-BE49-F238E27FC236}">
                <a16:creationId xmlns:a16="http://schemas.microsoft.com/office/drawing/2014/main" id="{1112A55C-8A72-42A1-BB62-56869B4CB65B}"/>
              </a:ext>
            </a:extLst>
          </p:cNvPr>
          <p:cNvSpPr>
            <a:spLocks noGrp="1"/>
          </p:cNvSpPr>
          <p:nvPr/>
        </p:nvSpPr>
        <p:spPr>
          <a:xfrm>
            <a:off x="3048000" y="4381500"/>
            <a:ext cx="13525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视频切分与指标计算存在质量问题</a:t>
            </a:r>
          </a:p>
        </p:txBody>
      </p:sp>
      <p:sp>
        <p:nvSpPr>
          <p:cNvPr id="24" name="03">
            <a:extLst>
              <a:ext uri="{FF2B5EF4-FFF2-40B4-BE49-F238E27FC236}">
                <a16:creationId xmlns:a16="http://schemas.microsoft.com/office/drawing/2014/main" id="{04EF7661-0AEE-4B68-A0DF-1182246CBD0A}"/>
              </a:ext>
            </a:extLst>
          </p:cNvPr>
          <p:cNvSpPr>
            <a:spLocks noGrp="1"/>
          </p:cNvSpPr>
          <p:nvPr/>
        </p:nvSpPr>
        <p:spPr>
          <a:xfrm>
            <a:off x="1619250" y="6048375"/>
            <a:ext cx="1047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03</a:t>
            </a:r>
          </a:p>
        </p:txBody>
      </p:sp>
      <p:sp>
        <p:nvSpPr>
          <p:cNvPr id="25" name="自动化测试也需要持续完善">
            <a:extLst>
              <a:ext uri="{FF2B5EF4-FFF2-40B4-BE49-F238E27FC236}">
                <a16:creationId xmlns:a16="http://schemas.microsoft.com/office/drawing/2014/main" id="{A57979B6-236E-4B76-A05F-3A94F8B38788}"/>
              </a:ext>
            </a:extLst>
          </p:cNvPr>
          <p:cNvSpPr>
            <a:spLocks noGrp="1"/>
          </p:cNvSpPr>
          <p:nvPr/>
        </p:nvSpPr>
        <p:spPr>
          <a:xfrm>
            <a:off x="3048000" y="6048375"/>
            <a:ext cx="13525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首轮测试未达到验收要求</a:t>
            </a:r>
          </a:p>
        </p:txBody>
      </p:sp>
      <p:sp>
        <p:nvSpPr>
          <p:cNvPr id="27" name="04">
            <a:extLst>
              <a:ext uri="{FF2B5EF4-FFF2-40B4-BE49-F238E27FC236}">
                <a16:creationId xmlns:a16="http://schemas.microsoft.com/office/drawing/2014/main" id="{CF942F98-98BC-4A2A-A21F-2EDBF402D6C6}"/>
              </a:ext>
            </a:extLst>
          </p:cNvPr>
          <p:cNvSpPr>
            <a:spLocks noGrp="1"/>
          </p:cNvSpPr>
          <p:nvPr/>
        </p:nvSpPr>
        <p:spPr>
          <a:xfrm>
            <a:off x="1619250" y="7715250"/>
            <a:ext cx="1047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04</a:t>
            </a:r>
          </a:p>
        </p:txBody>
      </p:sp>
      <p:sp>
        <p:nvSpPr>
          <p:cNvPr id="28" name="测试结论应与验证范围一致">
            <a:extLst>
              <a:ext uri="{FF2B5EF4-FFF2-40B4-BE49-F238E27FC236}">
                <a16:creationId xmlns:a16="http://schemas.microsoft.com/office/drawing/2014/main" id="{D1EC729D-328A-4032-A7AE-C590D3D2F202}"/>
              </a:ext>
            </a:extLst>
          </p:cNvPr>
          <p:cNvSpPr>
            <a:spLocks noGrp="1"/>
          </p:cNvSpPr>
          <p:nvPr/>
        </p:nvSpPr>
        <p:spPr>
          <a:xfrm>
            <a:off x="3048000" y="7715250"/>
            <a:ext cx="13525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修复后满足本次模块级回归要求</a:t>
            </a:r>
          </a:p>
        </p:txBody>
      </p:sp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326</Words>
  <Application>Microsoft Office PowerPoint</Application>
  <DocSecurity>0</DocSecurity>
  <PresentationFormat>自定义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思源黑体 1</vt:lpstr>
      <vt:lpstr>思源黑体 1 Bold</vt:lpstr>
      <vt:lpstr>思源黑体 2</vt:lpstr>
      <vt:lpstr>思源黑体 2 Bold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Hao Qiu</cp:lastModifiedBy>
  <cp:revision>4</cp:revision>
  <dcterms:created xsi:type="dcterms:W3CDTF">2026-09-14T08:51:04Z</dcterms:created>
  <dcterms:modified xsi:type="dcterms:W3CDTF">2026-09-15T06:24:08Z</dcterms:modified>
</cp:coreProperties>
</file>